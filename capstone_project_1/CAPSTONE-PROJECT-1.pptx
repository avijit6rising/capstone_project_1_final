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5" autoAdjust="0"/>
    <p:restoredTop sz="94660"/>
  </p:normalViewPr>
  <p:slideViewPr>
    <p:cSldViewPr snapToGrid="0">
      <p:cViewPr varScale="1">
        <p:scale>
          <a:sx n="109" d="100"/>
          <a:sy n="109" d="100"/>
        </p:scale>
        <p:origin x="8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CB02D-88A6-ECBD-1748-C3EBB9AE65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5AFA014-BBA4-430E-907A-42BF04BD6E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1849263-2639-BE0B-3816-57C1F9AAF07E}"/>
              </a:ext>
            </a:extLst>
          </p:cNvPr>
          <p:cNvSpPr>
            <a:spLocks noGrp="1"/>
          </p:cNvSpPr>
          <p:nvPr>
            <p:ph type="dt" sz="half" idx="10"/>
          </p:nvPr>
        </p:nvSpPr>
        <p:spPr/>
        <p:txBody>
          <a:bodyPr/>
          <a:lstStyle/>
          <a:p>
            <a:fld id="{1688D8B2-E677-49F2-88D5-F4CD1B1250D1}" type="datetimeFigureOut">
              <a:rPr lang="en-IN" smtClean="0"/>
              <a:t>06-12-2025</a:t>
            </a:fld>
            <a:endParaRPr lang="en-IN"/>
          </a:p>
        </p:txBody>
      </p:sp>
      <p:sp>
        <p:nvSpPr>
          <p:cNvPr id="5" name="Footer Placeholder 4">
            <a:extLst>
              <a:ext uri="{FF2B5EF4-FFF2-40B4-BE49-F238E27FC236}">
                <a16:creationId xmlns:a16="http://schemas.microsoft.com/office/drawing/2014/main" id="{05B3DBE8-D3AB-BC04-74E4-3CFC2A9DDF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5C5AAE-8BA4-6D99-0384-5526B8A3D7B8}"/>
              </a:ext>
            </a:extLst>
          </p:cNvPr>
          <p:cNvSpPr>
            <a:spLocks noGrp="1"/>
          </p:cNvSpPr>
          <p:nvPr>
            <p:ph type="sldNum" sz="quarter" idx="12"/>
          </p:nvPr>
        </p:nvSpPr>
        <p:spPr/>
        <p:txBody>
          <a:bodyPr/>
          <a:lstStyle/>
          <a:p>
            <a:fld id="{9F3C1642-8A3D-4C22-84A7-E8D046EFD3FE}" type="slidenum">
              <a:rPr lang="en-IN" smtClean="0"/>
              <a:t>‹#›</a:t>
            </a:fld>
            <a:endParaRPr lang="en-IN"/>
          </a:p>
        </p:txBody>
      </p:sp>
    </p:spTree>
    <p:extLst>
      <p:ext uri="{BB962C8B-B14F-4D97-AF65-F5344CB8AC3E}">
        <p14:creationId xmlns:p14="http://schemas.microsoft.com/office/powerpoint/2010/main" val="2931512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6B069-59A2-7C1B-4856-0BAB291840E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4AB0AC-4194-70A2-1605-7547F55FE7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952088-2CB7-16E3-C5F7-09422CD18ED2}"/>
              </a:ext>
            </a:extLst>
          </p:cNvPr>
          <p:cNvSpPr>
            <a:spLocks noGrp="1"/>
          </p:cNvSpPr>
          <p:nvPr>
            <p:ph type="dt" sz="half" idx="10"/>
          </p:nvPr>
        </p:nvSpPr>
        <p:spPr/>
        <p:txBody>
          <a:bodyPr/>
          <a:lstStyle/>
          <a:p>
            <a:fld id="{1688D8B2-E677-49F2-88D5-F4CD1B1250D1}" type="datetimeFigureOut">
              <a:rPr lang="en-IN" smtClean="0"/>
              <a:t>06-12-2025</a:t>
            </a:fld>
            <a:endParaRPr lang="en-IN"/>
          </a:p>
        </p:txBody>
      </p:sp>
      <p:sp>
        <p:nvSpPr>
          <p:cNvPr id="5" name="Footer Placeholder 4">
            <a:extLst>
              <a:ext uri="{FF2B5EF4-FFF2-40B4-BE49-F238E27FC236}">
                <a16:creationId xmlns:a16="http://schemas.microsoft.com/office/drawing/2014/main" id="{3710826B-0625-3EC5-0E18-692D4A0FE7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CDA397-2EC4-73EA-34C5-23AA03F32761}"/>
              </a:ext>
            </a:extLst>
          </p:cNvPr>
          <p:cNvSpPr>
            <a:spLocks noGrp="1"/>
          </p:cNvSpPr>
          <p:nvPr>
            <p:ph type="sldNum" sz="quarter" idx="12"/>
          </p:nvPr>
        </p:nvSpPr>
        <p:spPr/>
        <p:txBody>
          <a:bodyPr/>
          <a:lstStyle/>
          <a:p>
            <a:fld id="{9F3C1642-8A3D-4C22-84A7-E8D046EFD3FE}" type="slidenum">
              <a:rPr lang="en-IN" smtClean="0"/>
              <a:t>‹#›</a:t>
            </a:fld>
            <a:endParaRPr lang="en-IN"/>
          </a:p>
        </p:txBody>
      </p:sp>
    </p:spTree>
    <p:extLst>
      <p:ext uri="{BB962C8B-B14F-4D97-AF65-F5344CB8AC3E}">
        <p14:creationId xmlns:p14="http://schemas.microsoft.com/office/powerpoint/2010/main" val="3408216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72C12-E76D-596B-5946-8918C7F90E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3005779-E188-76F9-B5B1-3834F9F01D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263AC6-811C-20A1-9A6D-40092D0D6513}"/>
              </a:ext>
            </a:extLst>
          </p:cNvPr>
          <p:cNvSpPr>
            <a:spLocks noGrp="1"/>
          </p:cNvSpPr>
          <p:nvPr>
            <p:ph type="dt" sz="half" idx="10"/>
          </p:nvPr>
        </p:nvSpPr>
        <p:spPr/>
        <p:txBody>
          <a:bodyPr/>
          <a:lstStyle/>
          <a:p>
            <a:fld id="{1688D8B2-E677-49F2-88D5-F4CD1B1250D1}" type="datetimeFigureOut">
              <a:rPr lang="en-IN" smtClean="0"/>
              <a:t>06-12-2025</a:t>
            </a:fld>
            <a:endParaRPr lang="en-IN"/>
          </a:p>
        </p:txBody>
      </p:sp>
      <p:sp>
        <p:nvSpPr>
          <p:cNvPr id="5" name="Footer Placeholder 4">
            <a:extLst>
              <a:ext uri="{FF2B5EF4-FFF2-40B4-BE49-F238E27FC236}">
                <a16:creationId xmlns:a16="http://schemas.microsoft.com/office/drawing/2014/main" id="{7E6C9C28-4B22-D2F4-013E-6DAECF8A81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485FB6-7886-5DF9-7F9C-D5D09ACE3730}"/>
              </a:ext>
            </a:extLst>
          </p:cNvPr>
          <p:cNvSpPr>
            <a:spLocks noGrp="1"/>
          </p:cNvSpPr>
          <p:nvPr>
            <p:ph type="sldNum" sz="quarter" idx="12"/>
          </p:nvPr>
        </p:nvSpPr>
        <p:spPr/>
        <p:txBody>
          <a:bodyPr/>
          <a:lstStyle/>
          <a:p>
            <a:fld id="{9F3C1642-8A3D-4C22-84A7-E8D046EFD3FE}" type="slidenum">
              <a:rPr lang="en-IN" smtClean="0"/>
              <a:t>‹#›</a:t>
            </a:fld>
            <a:endParaRPr lang="en-IN"/>
          </a:p>
        </p:txBody>
      </p:sp>
    </p:spTree>
    <p:extLst>
      <p:ext uri="{BB962C8B-B14F-4D97-AF65-F5344CB8AC3E}">
        <p14:creationId xmlns:p14="http://schemas.microsoft.com/office/powerpoint/2010/main" val="1033443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0B2E2-4F9E-583A-8B43-1EB964AAD02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83E172D-C217-744D-9228-FE7943F0FC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44A2E5D-9C33-AE2B-0FC5-A81AA6610FD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46DF01B-CE1A-C3C6-62BF-0BC77954A654}"/>
              </a:ext>
            </a:extLst>
          </p:cNvPr>
          <p:cNvSpPr>
            <a:spLocks noGrp="1"/>
          </p:cNvSpPr>
          <p:nvPr>
            <p:ph type="dt" sz="half" idx="10"/>
          </p:nvPr>
        </p:nvSpPr>
        <p:spPr/>
        <p:txBody>
          <a:bodyPr/>
          <a:lstStyle/>
          <a:p>
            <a:fld id="{1688D8B2-E677-49F2-88D5-F4CD1B1250D1}" type="datetimeFigureOut">
              <a:rPr lang="en-IN" smtClean="0"/>
              <a:t>06-12-2025</a:t>
            </a:fld>
            <a:endParaRPr lang="en-IN"/>
          </a:p>
        </p:txBody>
      </p:sp>
      <p:sp>
        <p:nvSpPr>
          <p:cNvPr id="6" name="Footer Placeholder 5">
            <a:extLst>
              <a:ext uri="{FF2B5EF4-FFF2-40B4-BE49-F238E27FC236}">
                <a16:creationId xmlns:a16="http://schemas.microsoft.com/office/drawing/2014/main" id="{3286B39E-1142-349C-D0A2-1E14695228D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23B05DE-F9C5-A7D8-9234-AA7BFAB93298}"/>
              </a:ext>
            </a:extLst>
          </p:cNvPr>
          <p:cNvSpPr>
            <a:spLocks noGrp="1"/>
          </p:cNvSpPr>
          <p:nvPr>
            <p:ph type="sldNum" sz="quarter" idx="12"/>
          </p:nvPr>
        </p:nvSpPr>
        <p:spPr/>
        <p:txBody>
          <a:bodyPr/>
          <a:lstStyle/>
          <a:p>
            <a:fld id="{9F3C1642-8A3D-4C22-84A7-E8D046EFD3FE}" type="slidenum">
              <a:rPr lang="en-IN" smtClean="0"/>
              <a:t>‹#›</a:t>
            </a:fld>
            <a:endParaRPr lang="en-IN"/>
          </a:p>
        </p:txBody>
      </p:sp>
    </p:spTree>
    <p:extLst>
      <p:ext uri="{BB962C8B-B14F-4D97-AF65-F5344CB8AC3E}">
        <p14:creationId xmlns:p14="http://schemas.microsoft.com/office/powerpoint/2010/main" val="34780729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46706-EEB4-6B09-1604-EDE99FEF7D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8A3F6BC-E57F-F2D8-65C1-5EF54F4DF8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942FF7-B761-926B-23A9-D4977899B5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6F78D17-DF25-A101-0084-71E3A14EBC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F8A8C7-A935-08FD-EA8A-97772F529C0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6C8AE28-26A7-35BE-6CD3-97A89537303B}"/>
              </a:ext>
            </a:extLst>
          </p:cNvPr>
          <p:cNvSpPr>
            <a:spLocks noGrp="1"/>
          </p:cNvSpPr>
          <p:nvPr>
            <p:ph type="dt" sz="half" idx="10"/>
          </p:nvPr>
        </p:nvSpPr>
        <p:spPr/>
        <p:txBody>
          <a:bodyPr/>
          <a:lstStyle/>
          <a:p>
            <a:fld id="{1688D8B2-E677-49F2-88D5-F4CD1B1250D1}" type="datetimeFigureOut">
              <a:rPr lang="en-IN" smtClean="0"/>
              <a:t>06-12-2025</a:t>
            </a:fld>
            <a:endParaRPr lang="en-IN"/>
          </a:p>
        </p:txBody>
      </p:sp>
      <p:sp>
        <p:nvSpPr>
          <p:cNvPr id="8" name="Footer Placeholder 7">
            <a:extLst>
              <a:ext uri="{FF2B5EF4-FFF2-40B4-BE49-F238E27FC236}">
                <a16:creationId xmlns:a16="http://schemas.microsoft.com/office/drawing/2014/main" id="{47DED814-6346-81FD-189F-584515F2211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6AC75D4-3772-8B23-CE1B-BC736FC5B0B3}"/>
              </a:ext>
            </a:extLst>
          </p:cNvPr>
          <p:cNvSpPr>
            <a:spLocks noGrp="1"/>
          </p:cNvSpPr>
          <p:nvPr>
            <p:ph type="sldNum" sz="quarter" idx="12"/>
          </p:nvPr>
        </p:nvSpPr>
        <p:spPr/>
        <p:txBody>
          <a:bodyPr/>
          <a:lstStyle/>
          <a:p>
            <a:fld id="{9F3C1642-8A3D-4C22-84A7-E8D046EFD3FE}" type="slidenum">
              <a:rPr lang="en-IN" smtClean="0"/>
              <a:t>‹#›</a:t>
            </a:fld>
            <a:endParaRPr lang="en-IN"/>
          </a:p>
        </p:txBody>
      </p:sp>
    </p:spTree>
    <p:extLst>
      <p:ext uri="{BB962C8B-B14F-4D97-AF65-F5344CB8AC3E}">
        <p14:creationId xmlns:p14="http://schemas.microsoft.com/office/powerpoint/2010/main" val="16314314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F36DC-F7CA-7AFE-96A2-0586EC48E3B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BCA25C4-AE02-DB13-D664-7EAA40228288}"/>
              </a:ext>
            </a:extLst>
          </p:cNvPr>
          <p:cNvSpPr>
            <a:spLocks noGrp="1"/>
          </p:cNvSpPr>
          <p:nvPr>
            <p:ph type="dt" sz="half" idx="10"/>
          </p:nvPr>
        </p:nvSpPr>
        <p:spPr/>
        <p:txBody>
          <a:bodyPr/>
          <a:lstStyle/>
          <a:p>
            <a:fld id="{1688D8B2-E677-49F2-88D5-F4CD1B1250D1}" type="datetimeFigureOut">
              <a:rPr lang="en-IN" smtClean="0"/>
              <a:t>06-12-2025</a:t>
            </a:fld>
            <a:endParaRPr lang="en-IN"/>
          </a:p>
        </p:txBody>
      </p:sp>
      <p:sp>
        <p:nvSpPr>
          <p:cNvPr id="4" name="Footer Placeholder 3">
            <a:extLst>
              <a:ext uri="{FF2B5EF4-FFF2-40B4-BE49-F238E27FC236}">
                <a16:creationId xmlns:a16="http://schemas.microsoft.com/office/drawing/2014/main" id="{087AAD65-22E5-229B-96D0-E23553DA518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741B79C-6F77-F981-EB46-C1F93C91C303}"/>
              </a:ext>
            </a:extLst>
          </p:cNvPr>
          <p:cNvSpPr>
            <a:spLocks noGrp="1"/>
          </p:cNvSpPr>
          <p:nvPr>
            <p:ph type="sldNum" sz="quarter" idx="12"/>
          </p:nvPr>
        </p:nvSpPr>
        <p:spPr/>
        <p:txBody>
          <a:bodyPr/>
          <a:lstStyle/>
          <a:p>
            <a:fld id="{9F3C1642-8A3D-4C22-84A7-E8D046EFD3FE}" type="slidenum">
              <a:rPr lang="en-IN" smtClean="0"/>
              <a:t>‹#›</a:t>
            </a:fld>
            <a:endParaRPr lang="en-IN"/>
          </a:p>
        </p:txBody>
      </p:sp>
    </p:spTree>
    <p:extLst>
      <p:ext uri="{BB962C8B-B14F-4D97-AF65-F5344CB8AC3E}">
        <p14:creationId xmlns:p14="http://schemas.microsoft.com/office/powerpoint/2010/main" val="713333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EAB442-663E-551E-1108-C0659DEBA98E}"/>
              </a:ext>
            </a:extLst>
          </p:cNvPr>
          <p:cNvSpPr>
            <a:spLocks noGrp="1"/>
          </p:cNvSpPr>
          <p:nvPr>
            <p:ph type="dt" sz="half" idx="10"/>
          </p:nvPr>
        </p:nvSpPr>
        <p:spPr/>
        <p:txBody>
          <a:bodyPr/>
          <a:lstStyle/>
          <a:p>
            <a:fld id="{1688D8B2-E677-49F2-88D5-F4CD1B1250D1}" type="datetimeFigureOut">
              <a:rPr lang="en-IN" smtClean="0"/>
              <a:t>06-12-2025</a:t>
            </a:fld>
            <a:endParaRPr lang="en-IN"/>
          </a:p>
        </p:txBody>
      </p:sp>
      <p:sp>
        <p:nvSpPr>
          <p:cNvPr id="3" name="Footer Placeholder 2">
            <a:extLst>
              <a:ext uri="{FF2B5EF4-FFF2-40B4-BE49-F238E27FC236}">
                <a16:creationId xmlns:a16="http://schemas.microsoft.com/office/drawing/2014/main" id="{5183C0B2-954C-8BE9-A1DB-B2A258BCB41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13E0ED0-F239-64AE-75C2-CE1D2A17C0EF}"/>
              </a:ext>
            </a:extLst>
          </p:cNvPr>
          <p:cNvSpPr>
            <a:spLocks noGrp="1"/>
          </p:cNvSpPr>
          <p:nvPr>
            <p:ph type="sldNum" sz="quarter" idx="12"/>
          </p:nvPr>
        </p:nvSpPr>
        <p:spPr/>
        <p:txBody>
          <a:bodyPr/>
          <a:lstStyle/>
          <a:p>
            <a:fld id="{9F3C1642-8A3D-4C22-84A7-E8D046EFD3FE}" type="slidenum">
              <a:rPr lang="en-IN" smtClean="0"/>
              <a:t>‹#›</a:t>
            </a:fld>
            <a:endParaRPr lang="en-IN"/>
          </a:p>
        </p:txBody>
      </p:sp>
    </p:spTree>
    <p:extLst>
      <p:ext uri="{BB962C8B-B14F-4D97-AF65-F5344CB8AC3E}">
        <p14:creationId xmlns:p14="http://schemas.microsoft.com/office/powerpoint/2010/main" val="3542755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3161E-94FA-6409-4E8E-AD88323732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45B7F9D-2667-1DC9-28FD-D0699C23B9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5DA509C-9266-F001-F8A7-62798BD9B0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6A2553-FB27-4991-D18A-20E94147009A}"/>
              </a:ext>
            </a:extLst>
          </p:cNvPr>
          <p:cNvSpPr>
            <a:spLocks noGrp="1"/>
          </p:cNvSpPr>
          <p:nvPr>
            <p:ph type="dt" sz="half" idx="10"/>
          </p:nvPr>
        </p:nvSpPr>
        <p:spPr/>
        <p:txBody>
          <a:bodyPr/>
          <a:lstStyle/>
          <a:p>
            <a:fld id="{1688D8B2-E677-49F2-88D5-F4CD1B1250D1}" type="datetimeFigureOut">
              <a:rPr lang="en-IN" smtClean="0"/>
              <a:t>06-12-2025</a:t>
            </a:fld>
            <a:endParaRPr lang="en-IN"/>
          </a:p>
        </p:txBody>
      </p:sp>
      <p:sp>
        <p:nvSpPr>
          <p:cNvPr id="6" name="Footer Placeholder 5">
            <a:extLst>
              <a:ext uri="{FF2B5EF4-FFF2-40B4-BE49-F238E27FC236}">
                <a16:creationId xmlns:a16="http://schemas.microsoft.com/office/drawing/2014/main" id="{21D080D1-0363-E70B-B02D-A5EB598EF51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F9FC5D-E98D-7563-5A40-A1C045BE843E}"/>
              </a:ext>
            </a:extLst>
          </p:cNvPr>
          <p:cNvSpPr>
            <a:spLocks noGrp="1"/>
          </p:cNvSpPr>
          <p:nvPr>
            <p:ph type="sldNum" sz="quarter" idx="12"/>
          </p:nvPr>
        </p:nvSpPr>
        <p:spPr/>
        <p:txBody>
          <a:bodyPr/>
          <a:lstStyle/>
          <a:p>
            <a:fld id="{9F3C1642-8A3D-4C22-84A7-E8D046EFD3FE}" type="slidenum">
              <a:rPr lang="en-IN" smtClean="0"/>
              <a:t>‹#›</a:t>
            </a:fld>
            <a:endParaRPr lang="en-IN"/>
          </a:p>
        </p:txBody>
      </p:sp>
    </p:spTree>
    <p:extLst>
      <p:ext uri="{BB962C8B-B14F-4D97-AF65-F5344CB8AC3E}">
        <p14:creationId xmlns:p14="http://schemas.microsoft.com/office/powerpoint/2010/main" val="4260730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60207-1BFA-98ED-DC4F-A4B75F7BDF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558A324-B169-8E1B-B85F-7DF460FD41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CF9FDA1-3FA0-C1B1-57EE-E77888EFF3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B8C183-FA5C-173F-2AAD-2B0479E3F877}"/>
              </a:ext>
            </a:extLst>
          </p:cNvPr>
          <p:cNvSpPr>
            <a:spLocks noGrp="1"/>
          </p:cNvSpPr>
          <p:nvPr>
            <p:ph type="dt" sz="half" idx="10"/>
          </p:nvPr>
        </p:nvSpPr>
        <p:spPr/>
        <p:txBody>
          <a:bodyPr/>
          <a:lstStyle/>
          <a:p>
            <a:fld id="{1688D8B2-E677-49F2-88D5-F4CD1B1250D1}" type="datetimeFigureOut">
              <a:rPr lang="en-IN" smtClean="0"/>
              <a:t>06-12-2025</a:t>
            </a:fld>
            <a:endParaRPr lang="en-IN"/>
          </a:p>
        </p:txBody>
      </p:sp>
      <p:sp>
        <p:nvSpPr>
          <p:cNvPr id="6" name="Footer Placeholder 5">
            <a:extLst>
              <a:ext uri="{FF2B5EF4-FFF2-40B4-BE49-F238E27FC236}">
                <a16:creationId xmlns:a16="http://schemas.microsoft.com/office/drawing/2014/main" id="{E37BF953-A3F5-8C4F-B882-D3E97E8437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2B30448-1C38-1DB3-DDCF-AD9433225B66}"/>
              </a:ext>
            </a:extLst>
          </p:cNvPr>
          <p:cNvSpPr>
            <a:spLocks noGrp="1"/>
          </p:cNvSpPr>
          <p:nvPr>
            <p:ph type="sldNum" sz="quarter" idx="12"/>
          </p:nvPr>
        </p:nvSpPr>
        <p:spPr/>
        <p:txBody>
          <a:bodyPr/>
          <a:lstStyle/>
          <a:p>
            <a:fld id="{9F3C1642-8A3D-4C22-84A7-E8D046EFD3FE}" type="slidenum">
              <a:rPr lang="en-IN" smtClean="0"/>
              <a:t>‹#›</a:t>
            </a:fld>
            <a:endParaRPr lang="en-IN"/>
          </a:p>
        </p:txBody>
      </p:sp>
    </p:spTree>
    <p:extLst>
      <p:ext uri="{BB962C8B-B14F-4D97-AF65-F5344CB8AC3E}">
        <p14:creationId xmlns:p14="http://schemas.microsoft.com/office/powerpoint/2010/main" val="5712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DA420-6DF2-8A01-9EBE-6410E42D9D1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D5802CA-1704-AF07-9A09-D0F1439494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25F15E-0A7B-A9C4-F2F6-ACC8F904922A}"/>
              </a:ext>
            </a:extLst>
          </p:cNvPr>
          <p:cNvSpPr>
            <a:spLocks noGrp="1"/>
          </p:cNvSpPr>
          <p:nvPr>
            <p:ph type="dt" sz="half" idx="10"/>
          </p:nvPr>
        </p:nvSpPr>
        <p:spPr/>
        <p:txBody>
          <a:bodyPr/>
          <a:lstStyle/>
          <a:p>
            <a:fld id="{1688D8B2-E677-49F2-88D5-F4CD1B1250D1}" type="datetimeFigureOut">
              <a:rPr lang="en-IN" smtClean="0"/>
              <a:t>06-12-2025</a:t>
            </a:fld>
            <a:endParaRPr lang="en-IN"/>
          </a:p>
        </p:txBody>
      </p:sp>
      <p:sp>
        <p:nvSpPr>
          <p:cNvPr id="5" name="Footer Placeholder 4">
            <a:extLst>
              <a:ext uri="{FF2B5EF4-FFF2-40B4-BE49-F238E27FC236}">
                <a16:creationId xmlns:a16="http://schemas.microsoft.com/office/drawing/2014/main" id="{B028804D-4AC2-0639-37D5-A23007B7B4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2DC270-0A64-AE0B-0A37-7E4FA082DBF3}"/>
              </a:ext>
            </a:extLst>
          </p:cNvPr>
          <p:cNvSpPr>
            <a:spLocks noGrp="1"/>
          </p:cNvSpPr>
          <p:nvPr>
            <p:ph type="sldNum" sz="quarter" idx="12"/>
          </p:nvPr>
        </p:nvSpPr>
        <p:spPr/>
        <p:txBody>
          <a:bodyPr/>
          <a:lstStyle/>
          <a:p>
            <a:fld id="{9F3C1642-8A3D-4C22-84A7-E8D046EFD3FE}" type="slidenum">
              <a:rPr lang="en-IN" smtClean="0"/>
              <a:t>‹#›</a:t>
            </a:fld>
            <a:endParaRPr lang="en-IN"/>
          </a:p>
        </p:txBody>
      </p:sp>
    </p:spTree>
    <p:extLst>
      <p:ext uri="{BB962C8B-B14F-4D97-AF65-F5344CB8AC3E}">
        <p14:creationId xmlns:p14="http://schemas.microsoft.com/office/powerpoint/2010/main" val="3557459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AB800E-29A6-BE44-941C-616A93CB5EF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485489A-1F29-5934-3839-5844E28312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57A258-28D2-16AB-C329-267F0DDAB36F}"/>
              </a:ext>
            </a:extLst>
          </p:cNvPr>
          <p:cNvSpPr>
            <a:spLocks noGrp="1"/>
          </p:cNvSpPr>
          <p:nvPr>
            <p:ph type="dt" sz="half" idx="10"/>
          </p:nvPr>
        </p:nvSpPr>
        <p:spPr/>
        <p:txBody>
          <a:bodyPr/>
          <a:lstStyle/>
          <a:p>
            <a:fld id="{1688D8B2-E677-49F2-88D5-F4CD1B1250D1}" type="datetimeFigureOut">
              <a:rPr lang="en-IN" smtClean="0"/>
              <a:t>06-12-2025</a:t>
            </a:fld>
            <a:endParaRPr lang="en-IN"/>
          </a:p>
        </p:txBody>
      </p:sp>
      <p:sp>
        <p:nvSpPr>
          <p:cNvPr id="5" name="Footer Placeholder 4">
            <a:extLst>
              <a:ext uri="{FF2B5EF4-FFF2-40B4-BE49-F238E27FC236}">
                <a16:creationId xmlns:a16="http://schemas.microsoft.com/office/drawing/2014/main" id="{39919E1D-ED92-CB97-FDBA-3C4291C472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4E44BC-C836-38CB-0859-E00F93DE01B8}"/>
              </a:ext>
            </a:extLst>
          </p:cNvPr>
          <p:cNvSpPr>
            <a:spLocks noGrp="1"/>
          </p:cNvSpPr>
          <p:nvPr>
            <p:ph type="sldNum" sz="quarter" idx="12"/>
          </p:nvPr>
        </p:nvSpPr>
        <p:spPr/>
        <p:txBody>
          <a:bodyPr/>
          <a:lstStyle/>
          <a:p>
            <a:fld id="{9F3C1642-8A3D-4C22-84A7-E8D046EFD3FE}" type="slidenum">
              <a:rPr lang="en-IN" smtClean="0"/>
              <a:t>‹#›</a:t>
            </a:fld>
            <a:endParaRPr lang="en-IN"/>
          </a:p>
        </p:txBody>
      </p:sp>
    </p:spTree>
    <p:extLst>
      <p:ext uri="{BB962C8B-B14F-4D97-AF65-F5344CB8AC3E}">
        <p14:creationId xmlns:p14="http://schemas.microsoft.com/office/powerpoint/2010/main" val="3069418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2F4039-1270-3516-12F9-DE7BEF29C2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1EC4C9A-BC1F-D28E-DF0A-681E694FB6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9375B2-83C8-EA11-EE15-8CB64C10A9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88D8B2-E677-49F2-88D5-F4CD1B1250D1}" type="datetimeFigureOut">
              <a:rPr lang="en-IN" smtClean="0"/>
              <a:t>06-12-2025</a:t>
            </a:fld>
            <a:endParaRPr lang="en-IN"/>
          </a:p>
        </p:txBody>
      </p:sp>
      <p:sp>
        <p:nvSpPr>
          <p:cNvPr id="5" name="Footer Placeholder 4">
            <a:extLst>
              <a:ext uri="{FF2B5EF4-FFF2-40B4-BE49-F238E27FC236}">
                <a16:creationId xmlns:a16="http://schemas.microsoft.com/office/drawing/2014/main" id="{B11AC11C-EED4-D6BC-1BD6-CB2B883CE7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BC16500-8A43-9092-B8E2-429E5F6F22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3C1642-8A3D-4C22-84A7-E8D046EFD3FE}" type="slidenum">
              <a:rPr lang="en-IN" smtClean="0"/>
              <a:t>‹#›</a:t>
            </a:fld>
            <a:endParaRPr lang="en-IN"/>
          </a:p>
        </p:txBody>
      </p:sp>
    </p:spTree>
    <p:extLst>
      <p:ext uri="{BB962C8B-B14F-4D97-AF65-F5344CB8AC3E}">
        <p14:creationId xmlns:p14="http://schemas.microsoft.com/office/powerpoint/2010/main" val="7102503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ithub.com/olist/work-at-olist-data"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4C1CC-715A-E0C1-EA62-89D9D04D74D7}"/>
              </a:ext>
            </a:extLst>
          </p:cNvPr>
          <p:cNvSpPr>
            <a:spLocks noGrp="1"/>
          </p:cNvSpPr>
          <p:nvPr>
            <p:ph type="ctrTitle"/>
          </p:nvPr>
        </p:nvSpPr>
        <p:spPr>
          <a:xfrm>
            <a:off x="1424354" y="406400"/>
            <a:ext cx="9144000" cy="2387600"/>
          </a:xfrm>
        </p:spPr>
        <p:txBody>
          <a:bodyPr>
            <a:normAutofit/>
          </a:bodyPr>
          <a:lstStyle/>
          <a:p>
            <a:r>
              <a:rPr lang="en-US" sz="7200" b="1" dirty="0"/>
              <a:t>CAPSTONE-PROJECT-1</a:t>
            </a:r>
            <a:endParaRPr lang="en-IN" sz="7200" b="1" dirty="0"/>
          </a:p>
        </p:txBody>
      </p:sp>
      <p:sp>
        <p:nvSpPr>
          <p:cNvPr id="3" name="Subtitle 2">
            <a:extLst>
              <a:ext uri="{FF2B5EF4-FFF2-40B4-BE49-F238E27FC236}">
                <a16:creationId xmlns:a16="http://schemas.microsoft.com/office/drawing/2014/main" id="{DC39B67E-56E3-2B44-2F08-A40E51B32CB0}"/>
              </a:ext>
            </a:extLst>
          </p:cNvPr>
          <p:cNvSpPr>
            <a:spLocks noGrp="1"/>
          </p:cNvSpPr>
          <p:nvPr>
            <p:ph type="subTitle" idx="1"/>
          </p:nvPr>
        </p:nvSpPr>
        <p:spPr>
          <a:xfrm>
            <a:off x="1524000" y="3109669"/>
            <a:ext cx="9144000" cy="1655762"/>
          </a:xfrm>
        </p:spPr>
        <p:txBody>
          <a:bodyPr/>
          <a:lstStyle/>
          <a:p>
            <a:r>
              <a:rPr lang="en-US" dirty="0"/>
              <a:t>DATASET USED – </a:t>
            </a:r>
            <a:r>
              <a:rPr lang="en-IN" b="1" dirty="0">
                <a:hlinkClick r:id="rId2"/>
              </a:rPr>
              <a:t>work-at-</a:t>
            </a:r>
            <a:r>
              <a:rPr lang="en-IN" b="1" dirty="0" err="1">
                <a:hlinkClick r:id="rId2"/>
              </a:rPr>
              <a:t>olist</a:t>
            </a:r>
            <a:r>
              <a:rPr lang="en-IN" b="1" dirty="0">
                <a:hlinkClick r:id="rId2"/>
              </a:rPr>
              <a:t>-data</a:t>
            </a:r>
            <a:br>
              <a:rPr lang="en-IN" dirty="0"/>
            </a:br>
            <a:endParaRPr lang="en-IN" dirty="0"/>
          </a:p>
        </p:txBody>
      </p:sp>
      <p:pic>
        <p:nvPicPr>
          <p:cNvPr id="5" name="Picture 4">
            <a:extLst>
              <a:ext uri="{FF2B5EF4-FFF2-40B4-BE49-F238E27FC236}">
                <a16:creationId xmlns:a16="http://schemas.microsoft.com/office/drawing/2014/main" id="{A49AAA6B-BF08-BC23-F38A-4A5C498B86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70963" y="4056063"/>
            <a:ext cx="2050073" cy="2050073"/>
          </a:xfrm>
          <a:prstGeom prst="rect">
            <a:avLst/>
          </a:prstGeom>
        </p:spPr>
      </p:pic>
    </p:spTree>
    <p:extLst>
      <p:ext uri="{BB962C8B-B14F-4D97-AF65-F5344CB8AC3E}">
        <p14:creationId xmlns:p14="http://schemas.microsoft.com/office/powerpoint/2010/main" val="2008849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A4E3-5128-A24A-36A6-913EA9A5D849}"/>
              </a:ext>
            </a:extLst>
          </p:cNvPr>
          <p:cNvSpPr>
            <a:spLocks noGrp="1"/>
          </p:cNvSpPr>
          <p:nvPr>
            <p:ph type="title"/>
          </p:nvPr>
        </p:nvSpPr>
        <p:spPr/>
        <p:txBody>
          <a:bodyPr/>
          <a:lstStyle/>
          <a:p>
            <a:r>
              <a:rPr lang="en-US" b="1" dirty="0"/>
              <a:t>Top Categories in Very Slow Delivery Orders</a:t>
            </a:r>
            <a:endParaRPr lang="en-IN" b="1" dirty="0"/>
          </a:p>
        </p:txBody>
      </p:sp>
      <p:sp>
        <p:nvSpPr>
          <p:cNvPr id="3" name="Content Placeholder 2">
            <a:extLst>
              <a:ext uri="{FF2B5EF4-FFF2-40B4-BE49-F238E27FC236}">
                <a16:creationId xmlns:a16="http://schemas.microsoft.com/office/drawing/2014/main" id="{2F57895D-2CEB-7592-47F7-27637FC9B56E}"/>
              </a:ext>
            </a:extLst>
          </p:cNvPr>
          <p:cNvSpPr>
            <a:spLocks noGrp="1"/>
          </p:cNvSpPr>
          <p:nvPr>
            <p:ph idx="1"/>
          </p:nvPr>
        </p:nvSpPr>
        <p:spPr/>
        <p:txBody>
          <a:bodyPr>
            <a:normAutofit fontScale="92500" lnSpcReduction="10000"/>
          </a:bodyPr>
          <a:lstStyle/>
          <a:p>
            <a:r>
              <a:rPr lang="en-US" dirty="0"/>
              <a:t>The top 15 categories with the highest count of extremely delayed orders.</a:t>
            </a:r>
          </a:p>
          <a:p>
            <a:r>
              <a:rPr lang="en-US" dirty="0"/>
              <a:t>Slow deliveries are concentrated in a few high-volume categories rather than being evenly spread.</a:t>
            </a:r>
          </a:p>
          <a:p>
            <a:r>
              <a:rPr lang="en-US" dirty="0"/>
              <a:t>Categories with bulky or complex items tend to appear more frequently.</a:t>
            </a:r>
          </a:p>
          <a:p>
            <a:r>
              <a:rPr lang="en-US" dirty="0"/>
              <a:t>Indicates operational bottlenecks in specific product lines.</a:t>
            </a:r>
          </a:p>
          <a:p>
            <a:r>
              <a:rPr lang="en-US" dirty="0"/>
              <a:t>These categories likely contribute disproportionately to customer dissatisfaction.</a:t>
            </a:r>
          </a:p>
          <a:p>
            <a:r>
              <a:rPr lang="en-US" b="1" dirty="0"/>
              <a:t>Key Insight / Business Implication:</a:t>
            </a:r>
          </a:p>
          <a:p>
            <a:r>
              <a:rPr lang="en-US" b="1" dirty="0"/>
              <a:t>Focus on logistics optimization for the top delayed categories — targeted SLA improvements here will immediately reduce overall delivery delays.</a:t>
            </a:r>
            <a:endParaRPr lang="en-US" dirty="0"/>
          </a:p>
          <a:p>
            <a:endParaRPr lang="en-IN" dirty="0"/>
          </a:p>
        </p:txBody>
      </p:sp>
    </p:spTree>
    <p:extLst>
      <p:ext uri="{BB962C8B-B14F-4D97-AF65-F5344CB8AC3E}">
        <p14:creationId xmlns:p14="http://schemas.microsoft.com/office/powerpoint/2010/main" val="3315862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5858C53-9BD6-1A06-15FF-932D2EF4998D}"/>
              </a:ext>
            </a:extLst>
          </p:cNvPr>
          <p:cNvPicPr>
            <a:picLocks noChangeAspect="1"/>
          </p:cNvPicPr>
          <p:nvPr/>
        </p:nvPicPr>
        <p:blipFill>
          <a:blip r:embed="rId2"/>
          <a:stretch>
            <a:fillRect/>
          </a:stretch>
        </p:blipFill>
        <p:spPr>
          <a:xfrm>
            <a:off x="457200" y="619125"/>
            <a:ext cx="11277600" cy="5619750"/>
          </a:xfrm>
          <a:prstGeom prst="rect">
            <a:avLst/>
          </a:prstGeom>
        </p:spPr>
      </p:pic>
    </p:spTree>
    <p:extLst>
      <p:ext uri="{BB962C8B-B14F-4D97-AF65-F5344CB8AC3E}">
        <p14:creationId xmlns:p14="http://schemas.microsoft.com/office/powerpoint/2010/main" val="2786492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A643535-541F-A2D2-534B-BC12F7E0AFB5}"/>
              </a:ext>
            </a:extLst>
          </p:cNvPr>
          <p:cNvSpPr>
            <a:spLocks noGrp="1"/>
          </p:cNvSpPr>
          <p:nvPr>
            <p:ph type="title"/>
          </p:nvPr>
        </p:nvSpPr>
        <p:spPr/>
        <p:txBody>
          <a:bodyPr/>
          <a:lstStyle/>
          <a:p>
            <a:r>
              <a:rPr lang="en-US" b="1" dirty="0"/>
              <a:t>Top Categories in Not Approved Orders</a:t>
            </a:r>
            <a:endParaRPr lang="en-IN" b="1" dirty="0"/>
          </a:p>
        </p:txBody>
      </p:sp>
      <p:sp>
        <p:nvSpPr>
          <p:cNvPr id="7" name="Content Placeholder 6">
            <a:extLst>
              <a:ext uri="{FF2B5EF4-FFF2-40B4-BE49-F238E27FC236}">
                <a16:creationId xmlns:a16="http://schemas.microsoft.com/office/drawing/2014/main" id="{5E5E7651-F333-8032-071A-8E959A305DE7}"/>
              </a:ext>
            </a:extLst>
          </p:cNvPr>
          <p:cNvSpPr>
            <a:spLocks noGrp="1"/>
          </p:cNvSpPr>
          <p:nvPr>
            <p:ph idx="1"/>
          </p:nvPr>
        </p:nvSpPr>
        <p:spPr/>
        <p:txBody>
          <a:bodyPr>
            <a:normAutofit fontScale="92500" lnSpcReduction="10000"/>
          </a:bodyPr>
          <a:lstStyle/>
          <a:p>
            <a:r>
              <a:rPr lang="en-US" dirty="0"/>
              <a:t>Displays categories where orders most frequently fail approval.</a:t>
            </a:r>
          </a:p>
          <a:p>
            <a:r>
              <a:rPr lang="en-US" dirty="0"/>
              <a:t>High counts may indicate issues in payment verification or customer abandonment.</a:t>
            </a:r>
          </a:p>
          <a:p>
            <a:r>
              <a:rPr lang="en-US" dirty="0"/>
              <a:t>Some categories may attract more fraudulent attempts or risky transactions.</a:t>
            </a:r>
          </a:p>
          <a:p>
            <a:r>
              <a:rPr lang="en-US" dirty="0"/>
              <a:t>Order approval failures can also hint at pricing or trust-related friction.</a:t>
            </a:r>
          </a:p>
          <a:p>
            <a:r>
              <a:rPr lang="en-US" dirty="0"/>
              <a:t>Patterns show operational inefficiencies at the pre-fulfillment stage.</a:t>
            </a:r>
          </a:p>
          <a:p>
            <a:r>
              <a:rPr lang="en-US" b="1" dirty="0"/>
              <a:t>Key Insight / Business Implication:</a:t>
            </a:r>
          </a:p>
          <a:p>
            <a:r>
              <a:rPr lang="en-US" b="1" dirty="0"/>
              <a:t>Investigate checkout and payment workflows for these categories — reducing approval failures can recover lost revenue without additional customer acquisition.</a:t>
            </a:r>
            <a:endParaRPr lang="en-US" dirty="0"/>
          </a:p>
          <a:p>
            <a:endParaRPr lang="en-IN" dirty="0"/>
          </a:p>
        </p:txBody>
      </p:sp>
    </p:spTree>
    <p:extLst>
      <p:ext uri="{BB962C8B-B14F-4D97-AF65-F5344CB8AC3E}">
        <p14:creationId xmlns:p14="http://schemas.microsoft.com/office/powerpoint/2010/main" val="1153435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85E7C83-3022-17C8-F344-00425B2BF8CB}"/>
              </a:ext>
            </a:extLst>
          </p:cNvPr>
          <p:cNvPicPr>
            <a:picLocks noChangeAspect="1"/>
          </p:cNvPicPr>
          <p:nvPr/>
        </p:nvPicPr>
        <p:blipFill>
          <a:blip r:embed="rId2"/>
          <a:stretch>
            <a:fillRect/>
          </a:stretch>
        </p:blipFill>
        <p:spPr>
          <a:xfrm>
            <a:off x="433387" y="619125"/>
            <a:ext cx="11325225" cy="5619750"/>
          </a:xfrm>
          <a:prstGeom prst="rect">
            <a:avLst/>
          </a:prstGeom>
        </p:spPr>
      </p:pic>
    </p:spTree>
    <p:extLst>
      <p:ext uri="{BB962C8B-B14F-4D97-AF65-F5344CB8AC3E}">
        <p14:creationId xmlns:p14="http://schemas.microsoft.com/office/powerpoint/2010/main" val="3776985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01818-FC45-6D46-908D-0D5691D9F2C1}"/>
              </a:ext>
            </a:extLst>
          </p:cNvPr>
          <p:cNvSpPr>
            <a:spLocks noGrp="1"/>
          </p:cNvSpPr>
          <p:nvPr>
            <p:ph type="title"/>
          </p:nvPr>
        </p:nvSpPr>
        <p:spPr/>
        <p:txBody>
          <a:bodyPr/>
          <a:lstStyle/>
          <a:p>
            <a:r>
              <a:rPr lang="en-US" b="1" dirty="0"/>
              <a:t>Top Categories Containing Outlier Orders</a:t>
            </a:r>
            <a:endParaRPr lang="en-IN" b="1" dirty="0"/>
          </a:p>
        </p:txBody>
      </p:sp>
      <p:sp>
        <p:nvSpPr>
          <p:cNvPr id="3" name="Content Placeholder 2">
            <a:extLst>
              <a:ext uri="{FF2B5EF4-FFF2-40B4-BE49-F238E27FC236}">
                <a16:creationId xmlns:a16="http://schemas.microsoft.com/office/drawing/2014/main" id="{4B4F15E0-CF72-58AB-9BAC-AD07BF8011EB}"/>
              </a:ext>
            </a:extLst>
          </p:cNvPr>
          <p:cNvSpPr>
            <a:spLocks noGrp="1"/>
          </p:cNvSpPr>
          <p:nvPr>
            <p:ph idx="1"/>
          </p:nvPr>
        </p:nvSpPr>
        <p:spPr/>
        <p:txBody>
          <a:bodyPr>
            <a:normAutofit fontScale="92500" lnSpcReduction="10000"/>
          </a:bodyPr>
          <a:lstStyle/>
          <a:p>
            <a:r>
              <a:rPr lang="en-US" dirty="0"/>
              <a:t>These are the top 15 product categories with unusually high or low statistical values (e.g., extreme delivery times or payment amounts).</a:t>
            </a:r>
          </a:p>
          <a:p>
            <a:r>
              <a:rPr lang="en-US" dirty="0"/>
              <a:t>Outliers cluster around specific product categories, suggesting inconsistent operational performance.</a:t>
            </a:r>
          </a:p>
          <a:p>
            <a:r>
              <a:rPr lang="en-US" dirty="0"/>
              <a:t>Could represent VIP/high-value orders or problematic logistics.</a:t>
            </a:r>
          </a:p>
          <a:p>
            <a:r>
              <a:rPr lang="en-US" dirty="0"/>
              <a:t>Presence of extreme values may distort forecasting models.</a:t>
            </a:r>
          </a:p>
          <a:p>
            <a:r>
              <a:rPr lang="en-US" dirty="0"/>
              <a:t>Identifying them helps build more reliable predictive pipelines.</a:t>
            </a:r>
          </a:p>
          <a:p>
            <a:r>
              <a:rPr lang="en-US" b="1" dirty="0"/>
              <a:t>Key Insight / Business Implication:</a:t>
            </a:r>
          </a:p>
          <a:p>
            <a:r>
              <a:rPr lang="en-US" b="1" dirty="0"/>
              <a:t>Perform category-level anomaly analysis to separate genuine high-value orders from operational errors — improves both forecasting accuracy and customer experience strategy.</a:t>
            </a:r>
            <a:endParaRPr lang="en-US" dirty="0"/>
          </a:p>
          <a:p>
            <a:endParaRPr lang="en-IN" dirty="0"/>
          </a:p>
        </p:txBody>
      </p:sp>
    </p:spTree>
    <p:extLst>
      <p:ext uri="{BB962C8B-B14F-4D97-AF65-F5344CB8AC3E}">
        <p14:creationId xmlns:p14="http://schemas.microsoft.com/office/powerpoint/2010/main" val="2152974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0E70FA-7884-7F57-3CC6-7AAE32DB9F01}"/>
              </a:ext>
            </a:extLst>
          </p:cNvPr>
          <p:cNvPicPr>
            <a:picLocks noChangeAspect="1"/>
          </p:cNvPicPr>
          <p:nvPr/>
        </p:nvPicPr>
        <p:blipFill>
          <a:blip r:embed="rId2"/>
          <a:stretch>
            <a:fillRect/>
          </a:stretch>
        </p:blipFill>
        <p:spPr>
          <a:xfrm>
            <a:off x="457200" y="619125"/>
            <a:ext cx="11277600" cy="5619750"/>
          </a:xfrm>
          <a:prstGeom prst="rect">
            <a:avLst/>
          </a:prstGeom>
        </p:spPr>
      </p:pic>
    </p:spTree>
    <p:extLst>
      <p:ext uri="{BB962C8B-B14F-4D97-AF65-F5344CB8AC3E}">
        <p14:creationId xmlns:p14="http://schemas.microsoft.com/office/powerpoint/2010/main" val="2185238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9D534-9352-C106-ED0D-D41EA5F64E40}"/>
              </a:ext>
            </a:extLst>
          </p:cNvPr>
          <p:cNvSpPr>
            <a:spLocks noGrp="1"/>
          </p:cNvSpPr>
          <p:nvPr>
            <p:ph type="title"/>
          </p:nvPr>
        </p:nvSpPr>
        <p:spPr/>
        <p:txBody>
          <a:bodyPr>
            <a:normAutofit fontScale="90000"/>
          </a:bodyPr>
          <a:lstStyle/>
          <a:p>
            <a:br>
              <a:rPr lang="en-US" b="1" dirty="0"/>
            </a:br>
            <a:br>
              <a:rPr lang="en-US" b="1" dirty="0"/>
            </a:br>
            <a:r>
              <a:rPr lang="en-US" b="1" dirty="0"/>
              <a:t>Very Slow Delivery by Installment</a:t>
            </a:r>
            <a:br>
              <a:rPr lang="en-US" b="1" dirty="0"/>
            </a:br>
            <a:br>
              <a:rPr lang="en-US" dirty="0"/>
            </a:br>
            <a:endParaRPr lang="en-IN" dirty="0"/>
          </a:p>
        </p:txBody>
      </p:sp>
      <p:sp>
        <p:nvSpPr>
          <p:cNvPr id="3" name="Content Placeholder 2">
            <a:extLst>
              <a:ext uri="{FF2B5EF4-FFF2-40B4-BE49-F238E27FC236}">
                <a16:creationId xmlns:a16="http://schemas.microsoft.com/office/drawing/2014/main" id="{53717E2E-0A43-A220-A4B2-F5FF0FA6EB46}"/>
              </a:ext>
            </a:extLst>
          </p:cNvPr>
          <p:cNvSpPr>
            <a:spLocks noGrp="1"/>
          </p:cNvSpPr>
          <p:nvPr>
            <p:ph idx="1"/>
          </p:nvPr>
        </p:nvSpPr>
        <p:spPr/>
        <p:txBody>
          <a:bodyPr>
            <a:normAutofit fontScale="70000" lnSpcReduction="20000"/>
          </a:bodyPr>
          <a:lstStyle/>
          <a:p>
            <a:r>
              <a:rPr lang="en-US" dirty="0"/>
              <a:t>Bars show total orders per installment count; line shows % of orders classified as “very slow”.</a:t>
            </a:r>
          </a:p>
          <a:p>
            <a:r>
              <a:rPr lang="en-US" dirty="0"/>
              <a:t>Identifies installment buckets with elevated delivery latency relative to others.</a:t>
            </a:r>
          </a:p>
          <a:p>
            <a:r>
              <a:rPr lang="en-US" dirty="0"/>
              <a:t>Can indicate logistical strain for certain payment terms (e.g., multi-installment orders needing special handling).</a:t>
            </a:r>
          </a:p>
          <a:p>
            <a:r>
              <a:rPr lang="en-US" dirty="0"/>
              <a:t>Use this to prioritize logistics or vendor performance reviews.</a:t>
            </a:r>
          </a:p>
          <a:p>
            <a:r>
              <a:rPr lang="en-US" b="1" dirty="0"/>
              <a:t>Key insight / action:</a:t>
            </a:r>
            <a:br>
              <a:rPr lang="en-US" dirty="0"/>
            </a:br>
            <a:r>
              <a:rPr lang="en-US" dirty="0"/>
              <a:t>Introduce targeted SLA changes or expedited routing for installment buckets with high % very slow — negotiate carrier SLAs or change fulfillment strategy for these segments.</a:t>
            </a:r>
          </a:p>
          <a:p>
            <a:r>
              <a:rPr lang="en-US" b="1" dirty="0"/>
              <a:t>Caption (1 line):</a:t>
            </a:r>
            <a:br>
              <a:rPr lang="en-US" dirty="0"/>
            </a:br>
            <a:r>
              <a:rPr lang="en-US" dirty="0"/>
              <a:t>High % very slow in specific installment buckets points to category-level or fulfillment pathway problems.</a:t>
            </a:r>
          </a:p>
          <a:p>
            <a:r>
              <a:rPr lang="en-US" b="1" dirty="0"/>
              <a:t>Speaker notes (short):</a:t>
            </a:r>
            <a:br>
              <a:rPr lang="en-US" dirty="0"/>
            </a:br>
            <a:r>
              <a:rPr lang="en-US" dirty="0"/>
              <a:t>This plot helps us see whether split-payment orders are systematically slower. If multi-installment orders show higher latency, we should check packing priorities, warehouse allocation, and carrier selection for those orders.</a:t>
            </a:r>
          </a:p>
          <a:p>
            <a:endParaRPr lang="en-IN" dirty="0"/>
          </a:p>
        </p:txBody>
      </p:sp>
    </p:spTree>
    <p:extLst>
      <p:ext uri="{BB962C8B-B14F-4D97-AF65-F5344CB8AC3E}">
        <p14:creationId xmlns:p14="http://schemas.microsoft.com/office/powerpoint/2010/main" val="38356326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9FAB1F2-322F-817D-ED53-E1F4AA4A783B}"/>
              </a:ext>
            </a:extLst>
          </p:cNvPr>
          <p:cNvPicPr>
            <a:picLocks noChangeAspect="1"/>
          </p:cNvPicPr>
          <p:nvPr/>
        </p:nvPicPr>
        <p:blipFill>
          <a:blip r:embed="rId2"/>
          <a:stretch>
            <a:fillRect/>
          </a:stretch>
        </p:blipFill>
        <p:spPr>
          <a:xfrm>
            <a:off x="621384" y="641472"/>
            <a:ext cx="11252511" cy="5575056"/>
          </a:xfrm>
          <a:prstGeom prst="rect">
            <a:avLst/>
          </a:prstGeom>
        </p:spPr>
      </p:pic>
    </p:spTree>
    <p:extLst>
      <p:ext uri="{BB962C8B-B14F-4D97-AF65-F5344CB8AC3E}">
        <p14:creationId xmlns:p14="http://schemas.microsoft.com/office/powerpoint/2010/main" val="3191770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18C77-C222-3CA7-6A81-A45D8651DF69}"/>
              </a:ext>
            </a:extLst>
          </p:cNvPr>
          <p:cNvSpPr>
            <a:spLocks noGrp="1"/>
          </p:cNvSpPr>
          <p:nvPr>
            <p:ph type="title"/>
          </p:nvPr>
        </p:nvSpPr>
        <p:spPr/>
        <p:txBody>
          <a:bodyPr/>
          <a:lstStyle/>
          <a:p>
            <a:r>
              <a:rPr lang="en-US" b="1" dirty="0"/>
              <a:t>Compare: % Never Delivered vs % Very Slow by Installment</a:t>
            </a:r>
            <a:endParaRPr lang="en-IN" b="1" dirty="0"/>
          </a:p>
        </p:txBody>
      </p:sp>
      <p:sp>
        <p:nvSpPr>
          <p:cNvPr id="3" name="Content Placeholder 2">
            <a:extLst>
              <a:ext uri="{FF2B5EF4-FFF2-40B4-BE49-F238E27FC236}">
                <a16:creationId xmlns:a16="http://schemas.microsoft.com/office/drawing/2014/main" id="{C41F5E31-402E-479D-8E0B-DC83139AE9E5}"/>
              </a:ext>
            </a:extLst>
          </p:cNvPr>
          <p:cNvSpPr>
            <a:spLocks noGrp="1"/>
          </p:cNvSpPr>
          <p:nvPr>
            <p:ph idx="1"/>
          </p:nvPr>
        </p:nvSpPr>
        <p:spPr/>
        <p:txBody>
          <a:bodyPr>
            <a:normAutofit fontScale="70000" lnSpcReduction="20000"/>
          </a:bodyPr>
          <a:lstStyle/>
          <a:p>
            <a:r>
              <a:rPr lang="en-US" dirty="0"/>
              <a:t>Two line series compare % Never Delivered (risk of loss) vs % Very Slow (customer experience) across installments.</a:t>
            </a:r>
          </a:p>
          <a:p>
            <a:r>
              <a:rPr lang="en-US" dirty="0"/>
              <a:t>Buckets where both metrics spike are high-priority: they cause lost revenue and bad CSAT.</a:t>
            </a:r>
          </a:p>
          <a:p>
            <a:r>
              <a:rPr lang="en-US" dirty="0"/>
              <a:t>Buckets where only % Very Slow is high suggest operational slowness; high % Never Delivered alone suggests fraud or fulfillment failure.</a:t>
            </a:r>
          </a:p>
          <a:p>
            <a:r>
              <a:rPr lang="en-US" dirty="0"/>
              <a:t>Use the comparison to split root-cause paths (logistics vs fraud/checkout).</a:t>
            </a:r>
          </a:p>
          <a:p>
            <a:r>
              <a:rPr lang="en-US" b="1" dirty="0"/>
              <a:t>Key insight / action:</a:t>
            </a:r>
            <a:br>
              <a:rPr lang="en-US" dirty="0"/>
            </a:br>
            <a:r>
              <a:rPr lang="en-US" dirty="0"/>
              <a:t>Create two remediation tracks: (1) logistics/operations for high-very-slow buckets, (2) payment verification / fraud controls for high-never-delivered buckets.</a:t>
            </a:r>
          </a:p>
          <a:p>
            <a:r>
              <a:rPr lang="en-US" b="1" dirty="0"/>
              <a:t>Caption (1 line):</a:t>
            </a:r>
            <a:br>
              <a:rPr lang="en-US" dirty="0"/>
            </a:br>
            <a:r>
              <a:rPr lang="en-US" dirty="0"/>
              <a:t>Overlaying both percentages reveals whether issues are delivery delays, non-fulfillment, or both.</a:t>
            </a:r>
          </a:p>
          <a:p>
            <a:r>
              <a:rPr lang="en-US" b="1" dirty="0"/>
              <a:t>Speaker notes (short):</a:t>
            </a:r>
            <a:br>
              <a:rPr lang="en-US" dirty="0"/>
            </a:br>
            <a:r>
              <a:rPr lang="en-US" dirty="0"/>
              <a:t>When both metrics align, the problem is systemic and urgent. When they diverge, we can more precisely assign responsibility — ops vs payments/fraud — and deploy targeted fixes.</a:t>
            </a:r>
          </a:p>
          <a:p>
            <a:endParaRPr lang="en-IN" dirty="0"/>
          </a:p>
        </p:txBody>
      </p:sp>
    </p:spTree>
    <p:extLst>
      <p:ext uri="{BB962C8B-B14F-4D97-AF65-F5344CB8AC3E}">
        <p14:creationId xmlns:p14="http://schemas.microsoft.com/office/powerpoint/2010/main" val="15498722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A641535-99E4-D383-30EE-6BAEAD79E675}"/>
              </a:ext>
            </a:extLst>
          </p:cNvPr>
          <p:cNvPicPr>
            <a:picLocks noChangeAspect="1"/>
          </p:cNvPicPr>
          <p:nvPr/>
        </p:nvPicPr>
        <p:blipFill>
          <a:blip r:embed="rId2"/>
          <a:stretch>
            <a:fillRect/>
          </a:stretch>
        </p:blipFill>
        <p:spPr>
          <a:xfrm>
            <a:off x="146972" y="830886"/>
            <a:ext cx="11752028" cy="5822542"/>
          </a:xfrm>
          <a:prstGeom prst="rect">
            <a:avLst/>
          </a:prstGeom>
        </p:spPr>
      </p:pic>
    </p:spTree>
    <p:extLst>
      <p:ext uri="{BB962C8B-B14F-4D97-AF65-F5344CB8AC3E}">
        <p14:creationId xmlns:p14="http://schemas.microsoft.com/office/powerpoint/2010/main" val="26782660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3F5FE-D8B9-B72B-7D39-C07199D98336}"/>
              </a:ext>
            </a:extLst>
          </p:cNvPr>
          <p:cNvSpPr>
            <a:spLocks noGrp="1"/>
          </p:cNvSpPr>
          <p:nvPr>
            <p:ph type="title"/>
          </p:nvPr>
        </p:nvSpPr>
        <p:spPr/>
        <p:txBody>
          <a:bodyPr/>
          <a:lstStyle/>
          <a:p>
            <a:r>
              <a:rPr lang="en-US" b="1" dirty="0"/>
              <a:t>Top Sellers by % Very Slow Delivery</a:t>
            </a:r>
            <a:endParaRPr lang="en-IN" b="1" dirty="0"/>
          </a:p>
        </p:txBody>
      </p:sp>
      <p:sp>
        <p:nvSpPr>
          <p:cNvPr id="3" name="Content Placeholder 2">
            <a:extLst>
              <a:ext uri="{FF2B5EF4-FFF2-40B4-BE49-F238E27FC236}">
                <a16:creationId xmlns:a16="http://schemas.microsoft.com/office/drawing/2014/main" id="{EEDF4B39-B19C-96E7-C1E3-CA9572BD588C}"/>
              </a:ext>
            </a:extLst>
          </p:cNvPr>
          <p:cNvSpPr>
            <a:spLocks noGrp="1"/>
          </p:cNvSpPr>
          <p:nvPr>
            <p:ph idx="1"/>
          </p:nvPr>
        </p:nvSpPr>
        <p:spPr/>
        <p:txBody>
          <a:bodyPr>
            <a:normAutofit fontScale="62500" lnSpcReduction="20000"/>
          </a:bodyPr>
          <a:lstStyle/>
          <a:p>
            <a:r>
              <a:rPr lang="en-US" dirty="0"/>
              <a:t>X sellers plotted (top by % Very Slow) with a minimum order threshold of 20 to avoid tiny-sample noise.</a:t>
            </a:r>
          </a:p>
          <a:p>
            <a:r>
              <a:rPr lang="en-US" dirty="0"/>
              <a:t>Bars = total unique orders per seller; line = % Very Slow delivery for each seller.</a:t>
            </a:r>
          </a:p>
          <a:p>
            <a:r>
              <a:rPr lang="en-US" dirty="0"/>
              <a:t>High % Very Slow with high order volume identifies sellers causing the largest customer-impact.</a:t>
            </a:r>
          </a:p>
          <a:p>
            <a:r>
              <a:rPr lang="en-US" dirty="0"/>
              <a:t>High % Very Slow but low volume may indicate isolated issues (packaging, location, or occasional carrier failures).</a:t>
            </a:r>
          </a:p>
          <a:p>
            <a:r>
              <a:rPr lang="en-US" dirty="0"/>
              <a:t>Use the chart to separate volume-driven problems from sample-noise anomalies.</a:t>
            </a:r>
          </a:p>
          <a:p>
            <a:r>
              <a:rPr lang="en-US" b="1" dirty="0"/>
              <a:t>Key insight / action:</a:t>
            </a:r>
            <a:br>
              <a:rPr lang="en-US" dirty="0"/>
            </a:br>
            <a:r>
              <a:rPr lang="en-US" dirty="0"/>
              <a:t>Prioritize operational audits and SLA renegotiation for sellers that combine high order volume </a:t>
            </a:r>
            <a:r>
              <a:rPr lang="en-US" i="1" dirty="0"/>
              <a:t>and</a:t>
            </a:r>
            <a:r>
              <a:rPr lang="en-US" dirty="0"/>
              <a:t> high % Very Slow. For high-% low-volume sellers, run sample audits before taking punitive action.</a:t>
            </a:r>
          </a:p>
          <a:p>
            <a:r>
              <a:rPr lang="en-US" b="1" dirty="0"/>
              <a:t>Caption (1 line):</a:t>
            </a:r>
            <a:br>
              <a:rPr lang="en-US" dirty="0"/>
            </a:br>
            <a:r>
              <a:rPr lang="en-US" dirty="0"/>
              <a:t>This chart highlights sellers whose fulfillment performance most negatively affects delivery speed and customer experience.</a:t>
            </a:r>
          </a:p>
          <a:p>
            <a:r>
              <a:rPr lang="en-US" b="1" dirty="0"/>
              <a:t>Speaker notes (short):</a:t>
            </a:r>
            <a:br>
              <a:rPr lang="en-US" dirty="0"/>
            </a:br>
            <a:r>
              <a:rPr lang="en-US" dirty="0"/>
              <a:t>We filtered sellers with at least 20 orders to reduce noise. The dual-axis view lets us spot sellers that both deliver many orders and have a high share of severe delays — these are priority targets for logistics improvements or contract review. For low-volume outliers, validate with a manual check first.</a:t>
            </a:r>
          </a:p>
          <a:p>
            <a:endParaRPr lang="en-IN" dirty="0"/>
          </a:p>
        </p:txBody>
      </p:sp>
    </p:spTree>
    <p:extLst>
      <p:ext uri="{BB962C8B-B14F-4D97-AF65-F5344CB8AC3E}">
        <p14:creationId xmlns:p14="http://schemas.microsoft.com/office/powerpoint/2010/main" val="326038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EF6983F-6292-1D28-C4C5-D168216C4218}"/>
              </a:ext>
            </a:extLst>
          </p:cNvPr>
          <p:cNvPicPr>
            <a:picLocks noChangeAspect="1"/>
          </p:cNvPicPr>
          <p:nvPr/>
        </p:nvPicPr>
        <p:blipFill>
          <a:blip r:embed="rId2"/>
          <a:stretch>
            <a:fillRect/>
          </a:stretch>
        </p:blipFill>
        <p:spPr>
          <a:xfrm>
            <a:off x="442912" y="619125"/>
            <a:ext cx="11306175" cy="5619750"/>
          </a:xfrm>
          <a:prstGeom prst="rect">
            <a:avLst/>
          </a:prstGeom>
        </p:spPr>
      </p:pic>
    </p:spTree>
    <p:extLst>
      <p:ext uri="{BB962C8B-B14F-4D97-AF65-F5344CB8AC3E}">
        <p14:creationId xmlns:p14="http://schemas.microsoft.com/office/powerpoint/2010/main" val="2062403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9866C-6286-FB04-7768-FFC6389B9968}"/>
              </a:ext>
            </a:extLst>
          </p:cNvPr>
          <p:cNvSpPr>
            <a:spLocks noGrp="1"/>
          </p:cNvSpPr>
          <p:nvPr>
            <p:ph type="title"/>
          </p:nvPr>
        </p:nvSpPr>
        <p:spPr/>
        <p:txBody>
          <a:bodyPr/>
          <a:lstStyle/>
          <a:p>
            <a:r>
              <a:rPr lang="en-US" b="1" dirty="0"/>
              <a:t>Median Freight Ratio by Product Category</a:t>
            </a:r>
            <a:endParaRPr lang="en-IN" b="1" dirty="0"/>
          </a:p>
        </p:txBody>
      </p:sp>
      <p:sp>
        <p:nvSpPr>
          <p:cNvPr id="3" name="Content Placeholder 2">
            <a:extLst>
              <a:ext uri="{FF2B5EF4-FFF2-40B4-BE49-F238E27FC236}">
                <a16:creationId xmlns:a16="http://schemas.microsoft.com/office/drawing/2014/main" id="{4215D17E-6A86-50AF-F33E-E717DEB1CB39}"/>
              </a:ext>
            </a:extLst>
          </p:cNvPr>
          <p:cNvSpPr>
            <a:spLocks noGrp="1"/>
          </p:cNvSpPr>
          <p:nvPr>
            <p:ph idx="1"/>
          </p:nvPr>
        </p:nvSpPr>
        <p:spPr/>
        <p:txBody>
          <a:bodyPr>
            <a:normAutofit fontScale="62500" lnSpcReduction="20000"/>
          </a:bodyPr>
          <a:lstStyle/>
          <a:p>
            <a:r>
              <a:rPr lang="en-US" dirty="0"/>
              <a:t>Shows the median </a:t>
            </a:r>
            <a:r>
              <a:rPr lang="en-US" i="1" dirty="0"/>
              <a:t>freight-to-order-value ratio</a:t>
            </a:r>
            <a:r>
              <a:rPr lang="en-US" dirty="0"/>
              <a:t> for each product category.</a:t>
            </a:r>
          </a:p>
          <a:p>
            <a:r>
              <a:rPr lang="en-US" dirty="0"/>
              <a:t>Categories with a </a:t>
            </a:r>
            <a:r>
              <a:rPr lang="en-US" b="1" dirty="0"/>
              <a:t>high freight ratio</a:t>
            </a:r>
            <a:r>
              <a:rPr lang="en-US" dirty="0"/>
              <a:t> indicate disproportionately expensive shipping relative to product price.</a:t>
            </a:r>
          </a:p>
          <a:p>
            <a:r>
              <a:rPr lang="en-US" dirty="0"/>
              <a:t>Low-ratio categories have more cost-efficient logistics or higher product value.</a:t>
            </a:r>
          </a:p>
          <a:p>
            <a:r>
              <a:rPr lang="en-US" dirty="0"/>
              <a:t>Categories with extreme ratios may signal issues in package dimensions, weight classifications, or courier pricing.</a:t>
            </a:r>
          </a:p>
          <a:p>
            <a:r>
              <a:rPr lang="en-US" dirty="0"/>
              <a:t>Useful for identifying segments where shipping costs heavily erode margins.</a:t>
            </a:r>
          </a:p>
          <a:p>
            <a:r>
              <a:rPr lang="en-US" b="1" dirty="0"/>
              <a:t>Key Insight / Action:</a:t>
            </a:r>
            <a:br>
              <a:rPr lang="en-US" dirty="0"/>
            </a:br>
            <a:r>
              <a:rPr lang="en-US" dirty="0"/>
              <a:t>Prioritize cost-optimization strategies (courier renegotiation, packaging redesign, dimensional-weight adjustments) for categories with the highest freight ratios — these categories cause the largest margin compression.</a:t>
            </a:r>
          </a:p>
          <a:p>
            <a:r>
              <a:rPr lang="en-US" b="1" dirty="0"/>
              <a:t>Caption (1 line):</a:t>
            </a:r>
            <a:br>
              <a:rPr lang="en-US" dirty="0"/>
            </a:br>
            <a:r>
              <a:rPr lang="en-US" dirty="0"/>
              <a:t>Freight ratio highlights categories where logistics cost is disproportionately high relative to product value.</a:t>
            </a:r>
          </a:p>
          <a:p>
            <a:r>
              <a:rPr lang="en-US" b="1" dirty="0"/>
              <a:t>Speaker Notes (short):</a:t>
            </a:r>
            <a:br>
              <a:rPr lang="en-US" dirty="0"/>
            </a:br>
            <a:r>
              <a:rPr lang="en-US" dirty="0"/>
              <a:t>This plot reveals which categories suffer from inefficient shipping economics. High freight ratios usually mean either lightweight but oversized items, poor packaging choices, or courier misalignment. Focusing on the top costly categories could recover margin quickly.</a:t>
            </a:r>
          </a:p>
          <a:p>
            <a:endParaRPr lang="en-IN" dirty="0"/>
          </a:p>
        </p:txBody>
      </p:sp>
    </p:spTree>
    <p:extLst>
      <p:ext uri="{BB962C8B-B14F-4D97-AF65-F5344CB8AC3E}">
        <p14:creationId xmlns:p14="http://schemas.microsoft.com/office/powerpoint/2010/main" val="15176651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3543A40-7D3D-21D8-91F0-D9520F30D823}"/>
              </a:ext>
            </a:extLst>
          </p:cNvPr>
          <p:cNvPicPr>
            <a:picLocks noChangeAspect="1"/>
          </p:cNvPicPr>
          <p:nvPr/>
        </p:nvPicPr>
        <p:blipFill>
          <a:blip r:embed="rId2"/>
          <a:stretch>
            <a:fillRect/>
          </a:stretch>
        </p:blipFill>
        <p:spPr>
          <a:xfrm>
            <a:off x="0" y="839626"/>
            <a:ext cx="12192000" cy="5178747"/>
          </a:xfrm>
          <a:prstGeom prst="rect">
            <a:avLst/>
          </a:prstGeom>
        </p:spPr>
      </p:pic>
    </p:spTree>
    <p:extLst>
      <p:ext uri="{BB962C8B-B14F-4D97-AF65-F5344CB8AC3E}">
        <p14:creationId xmlns:p14="http://schemas.microsoft.com/office/powerpoint/2010/main" val="13804269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6A86B-E031-A280-55D8-4EB19AF4BC12}"/>
              </a:ext>
            </a:extLst>
          </p:cNvPr>
          <p:cNvSpPr>
            <a:spLocks noGrp="1"/>
          </p:cNvSpPr>
          <p:nvPr>
            <p:ph type="title"/>
          </p:nvPr>
        </p:nvSpPr>
        <p:spPr/>
        <p:txBody>
          <a:bodyPr/>
          <a:lstStyle/>
          <a:p>
            <a:r>
              <a:rPr lang="en-US" b="1" dirty="0"/>
              <a:t>Max Freight Ratio by Product Category</a:t>
            </a:r>
            <a:endParaRPr lang="en-IN" b="1" dirty="0"/>
          </a:p>
        </p:txBody>
      </p:sp>
      <p:sp>
        <p:nvSpPr>
          <p:cNvPr id="3" name="Content Placeholder 2">
            <a:extLst>
              <a:ext uri="{FF2B5EF4-FFF2-40B4-BE49-F238E27FC236}">
                <a16:creationId xmlns:a16="http://schemas.microsoft.com/office/drawing/2014/main" id="{87DF8608-13E8-BF41-5FC4-1D62FC04E22F}"/>
              </a:ext>
            </a:extLst>
          </p:cNvPr>
          <p:cNvSpPr>
            <a:spLocks noGrp="1"/>
          </p:cNvSpPr>
          <p:nvPr>
            <p:ph idx="1"/>
          </p:nvPr>
        </p:nvSpPr>
        <p:spPr/>
        <p:txBody>
          <a:bodyPr>
            <a:normAutofit fontScale="62500" lnSpcReduction="20000"/>
          </a:bodyPr>
          <a:lstStyle/>
          <a:p>
            <a:r>
              <a:rPr lang="en-US" dirty="0"/>
              <a:t>Displays the </a:t>
            </a:r>
            <a:r>
              <a:rPr lang="en-US" b="1" dirty="0"/>
              <a:t>highest freight-to-order-value ratio</a:t>
            </a:r>
            <a:r>
              <a:rPr lang="en-US" dirty="0"/>
              <a:t> observed in each product category.</a:t>
            </a:r>
          </a:p>
          <a:p>
            <a:r>
              <a:rPr lang="en-US" dirty="0"/>
              <a:t>High max ratios indicate categories where some orders experience </a:t>
            </a:r>
            <a:r>
              <a:rPr lang="en-US" b="1" dirty="0"/>
              <a:t>extreme shipping inefficiency</a:t>
            </a:r>
            <a:r>
              <a:rPr lang="en-US" dirty="0"/>
              <a:t>.</a:t>
            </a:r>
          </a:p>
          <a:p>
            <a:r>
              <a:rPr lang="en-US" dirty="0"/>
              <a:t>These outliers may result from oversized packaging, misclassified dimensional weight, or long-distance routing.</a:t>
            </a:r>
          </a:p>
          <a:p>
            <a:r>
              <a:rPr lang="en-US" dirty="0"/>
              <a:t>Categories with very high max ratios pose a risk of </a:t>
            </a:r>
            <a:r>
              <a:rPr lang="en-US" b="1" dirty="0"/>
              <a:t>severe margin loss</a:t>
            </a:r>
            <a:r>
              <a:rPr lang="en-US" dirty="0"/>
              <a:t> on individual orders.</a:t>
            </a:r>
          </a:p>
          <a:p>
            <a:r>
              <a:rPr lang="en-US" dirty="0"/>
              <a:t>Helps isolate extreme cases that distort average cost calculations.</a:t>
            </a:r>
          </a:p>
          <a:p>
            <a:r>
              <a:rPr lang="en-US" b="1" dirty="0"/>
              <a:t>Key Insight / Action:</a:t>
            </a:r>
            <a:br>
              <a:rPr lang="en-US" dirty="0"/>
            </a:br>
            <a:r>
              <a:rPr lang="en-US" dirty="0"/>
              <a:t>Investigate categories with the most extreme max ratios — review packaging standards, weight/dimension inputs, and courier billing accuracy. Fixing these outliers can significantly reduce unpredictable shipping losses.</a:t>
            </a:r>
          </a:p>
          <a:p>
            <a:r>
              <a:rPr lang="en-US" b="1" dirty="0"/>
              <a:t>Caption (1 line):</a:t>
            </a:r>
            <a:br>
              <a:rPr lang="en-US" dirty="0"/>
            </a:br>
            <a:r>
              <a:rPr lang="en-US" dirty="0"/>
              <a:t>Max freight ratio highlights the worst-case logistics cost scenarios hidden within each category.</a:t>
            </a:r>
          </a:p>
          <a:p>
            <a:r>
              <a:rPr lang="en-US" b="1" dirty="0"/>
              <a:t>Speaker Notes (short):</a:t>
            </a:r>
            <a:br>
              <a:rPr lang="en-US" dirty="0"/>
            </a:br>
            <a:r>
              <a:rPr lang="en-US" dirty="0"/>
              <a:t>This plot isn’t about typical performance — it exposes the </a:t>
            </a:r>
            <a:r>
              <a:rPr lang="en-US" i="1" dirty="0"/>
              <a:t>worst</a:t>
            </a:r>
            <a:r>
              <a:rPr lang="en-US" dirty="0"/>
              <a:t> freight costs per category. Even a small number of poorly handled orders can destroy profitability. These extreme cases are usually fixable through packaging, courier negotiation, or correcting weight/dimension entries.</a:t>
            </a:r>
          </a:p>
          <a:p>
            <a:endParaRPr lang="en-IN" dirty="0"/>
          </a:p>
        </p:txBody>
      </p:sp>
    </p:spTree>
    <p:extLst>
      <p:ext uri="{BB962C8B-B14F-4D97-AF65-F5344CB8AC3E}">
        <p14:creationId xmlns:p14="http://schemas.microsoft.com/office/powerpoint/2010/main" val="36869034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ED2B625-4BB8-B9C3-31B6-8E80E50E94BC}"/>
              </a:ext>
            </a:extLst>
          </p:cNvPr>
          <p:cNvPicPr>
            <a:picLocks noChangeAspect="1"/>
          </p:cNvPicPr>
          <p:nvPr/>
        </p:nvPicPr>
        <p:blipFill>
          <a:blip r:embed="rId2"/>
          <a:stretch>
            <a:fillRect/>
          </a:stretch>
        </p:blipFill>
        <p:spPr>
          <a:xfrm>
            <a:off x="0" y="839626"/>
            <a:ext cx="12192000" cy="5178747"/>
          </a:xfrm>
          <a:prstGeom prst="rect">
            <a:avLst/>
          </a:prstGeom>
        </p:spPr>
      </p:pic>
    </p:spTree>
    <p:extLst>
      <p:ext uri="{BB962C8B-B14F-4D97-AF65-F5344CB8AC3E}">
        <p14:creationId xmlns:p14="http://schemas.microsoft.com/office/powerpoint/2010/main" val="40951490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4C313-DE7F-DA2A-0595-411C3DFBFE75}"/>
              </a:ext>
            </a:extLst>
          </p:cNvPr>
          <p:cNvSpPr>
            <a:spLocks noGrp="1"/>
          </p:cNvSpPr>
          <p:nvPr>
            <p:ph type="title"/>
          </p:nvPr>
        </p:nvSpPr>
        <p:spPr/>
        <p:txBody>
          <a:bodyPr/>
          <a:lstStyle/>
          <a:p>
            <a:r>
              <a:rPr lang="en-US" b="1" dirty="0"/>
              <a:t>Freight Ratio vs Product Weight Bin</a:t>
            </a:r>
            <a:endParaRPr lang="en-IN" b="1" dirty="0"/>
          </a:p>
        </p:txBody>
      </p:sp>
      <p:sp>
        <p:nvSpPr>
          <p:cNvPr id="3" name="Content Placeholder 2">
            <a:extLst>
              <a:ext uri="{FF2B5EF4-FFF2-40B4-BE49-F238E27FC236}">
                <a16:creationId xmlns:a16="http://schemas.microsoft.com/office/drawing/2014/main" id="{DAE94E7B-A53E-0C9F-B13E-CDE9D700295C}"/>
              </a:ext>
            </a:extLst>
          </p:cNvPr>
          <p:cNvSpPr>
            <a:spLocks noGrp="1"/>
          </p:cNvSpPr>
          <p:nvPr>
            <p:ph idx="1"/>
          </p:nvPr>
        </p:nvSpPr>
        <p:spPr/>
        <p:txBody>
          <a:bodyPr>
            <a:normAutofit fontScale="62500" lnSpcReduction="20000"/>
          </a:bodyPr>
          <a:lstStyle/>
          <a:p>
            <a:r>
              <a:rPr lang="en-US" dirty="0"/>
              <a:t>Product weights are grouped into bins (0–200g, 200–500g, 500g–1kg, etc.) for clearer comparison.</a:t>
            </a:r>
          </a:p>
          <a:p>
            <a:r>
              <a:rPr lang="en-US" dirty="0"/>
              <a:t>The line plot shows how the </a:t>
            </a:r>
            <a:r>
              <a:rPr lang="en-US" b="1" dirty="0"/>
              <a:t>freight-to-order-value ratio</a:t>
            </a:r>
            <a:r>
              <a:rPr lang="en-US" dirty="0"/>
              <a:t> changes as product weight increases.</a:t>
            </a:r>
          </a:p>
          <a:p>
            <a:r>
              <a:rPr lang="en-US" dirty="0"/>
              <a:t>Certain lightweight or mid-weight bins may show unexpectedly high freight ratios due to oversized packaging or dimensional weight charges.</a:t>
            </a:r>
          </a:p>
          <a:p>
            <a:r>
              <a:rPr lang="en-US" dirty="0"/>
              <a:t>Heavy bins with moderate ratios indicate more predictable, weight-based pricing.</a:t>
            </a:r>
          </a:p>
          <a:p>
            <a:r>
              <a:rPr lang="en-US" dirty="0"/>
              <a:t>Identifies weight brackets where shipping cost is disproportionately high relative to product value.</a:t>
            </a:r>
          </a:p>
          <a:p>
            <a:r>
              <a:rPr lang="en-US" b="1" dirty="0"/>
              <a:t>Key Insight / Action:</a:t>
            </a:r>
            <a:br>
              <a:rPr lang="en-US" dirty="0"/>
            </a:br>
            <a:r>
              <a:rPr lang="en-US" dirty="0"/>
              <a:t>Investigate bins with unusually high freight ratios—review packaging dimensions and courier billing rules to correct inefficiencies and reduce unnecessary shipping cost.</a:t>
            </a:r>
          </a:p>
          <a:p>
            <a:r>
              <a:rPr lang="en-US" b="1" dirty="0"/>
              <a:t>Caption (1 line):</a:t>
            </a:r>
            <a:br>
              <a:rPr lang="en-US" dirty="0"/>
            </a:br>
            <a:r>
              <a:rPr lang="en-US" dirty="0"/>
              <a:t>Weight-based analysis reveals which product sizes generate the most inefficient freight costs.</a:t>
            </a:r>
          </a:p>
          <a:p>
            <a:r>
              <a:rPr lang="en-US" b="1" dirty="0"/>
              <a:t>Speaker Notes (short):</a:t>
            </a:r>
            <a:br>
              <a:rPr lang="en-US" dirty="0"/>
            </a:br>
            <a:r>
              <a:rPr lang="en-US" dirty="0"/>
              <a:t>This visualization helps isolate which weight classes create margin pressure. Sometimes the smallest items have the worst freight ratios because of incorrect packaging or volumetric weight billing. Fixing these classes has a direct margin impact across thousands of orders.</a:t>
            </a:r>
          </a:p>
          <a:p>
            <a:endParaRPr lang="en-IN" dirty="0"/>
          </a:p>
        </p:txBody>
      </p:sp>
    </p:spTree>
    <p:extLst>
      <p:ext uri="{BB962C8B-B14F-4D97-AF65-F5344CB8AC3E}">
        <p14:creationId xmlns:p14="http://schemas.microsoft.com/office/powerpoint/2010/main" val="3083035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CDD8463-2EF7-A799-8DBF-EB2181AC80C0}"/>
              </a:ext>
            </a:extLst>
          </p:cNvPr>
          <p:cNvPicPr>
            <a:picLocks noChangeAspect="1"/>
          </p:cNvPicPr>
          <p:nvPr/>
        </p:nvPicPr>
        <p:blipFill>
          <a:blip r:embed="rId2"/>
          <a:stretch>
            <a:fillRect/>
          </a:stretch>
        </p:blipFill>
        <p:spPr>
          <a:xfrm>
            <a:off x="363393" y="641517"/>
            <a:ext cx="11465214" cy="5674702"/>
          </a:xfrm>
          <a:prstGeom prst="rect">
            <a:avLst/>
          </a:prstGeom>
        </p:spPr>
      </p:pic>
    </p:spTree>
    <p:extLst>
      <p:ext uri="{BB962C8B-B14F-4D97-AF65-F5344CB8AC3E}">
        <p14:creationId xmlns:p14="http://schemas.microsoft.com/office/powerpoint/2010/main" val="3268043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73FA1-7F3A-3BE6-FF1B-03C7CB903BAA}"/>
              </a:ext>
            </a:extLst>
          </p:cNvPr>
          <p:cNvSpPr>
            <a:spLocks noGrp="1"/>
          </p:cNvSpPr>
          <p:nvPr>
            <p:ph type="title"/>
          </p:nvPr>
        </p:nvSpPr>
        <p:spPr/>
        <p:txBody>
          <a:bodyPr/>
          <a:lstStyle/>
          <a:p>
            <a:r>
              <a:rPr lang="en-IN" b="1" dirty="0"/>
              <a:t>Customer </a:t>
            </a:r>
            <a:r>
              <a:rPr lang="en-IN" b="1" dirty="0" err="1"/>
              <a:t>Installment</a:t>
            </a:r>
            <a:r>
              <a:rPr lang="en-IN" b="1" dirty="0"/>
              <a:t> Segmentation</a:t>
            </a:r>
          </a:p>
        </p:txBody>
      </p:sp>
      <p:sp>
        <p:nvSpPr>
          <p:cNvPr id="3" name="Content Placeholder 2">
            <a:extLst>
              <a:ext uri="{FF2B5EF4-FFF2-40B4-BE49-F238E27FC236}">
                <a16:creationId xmlns:a16="http://schemas.microsoft.com/office/drawing/2014/main" id="{32575233-B36D-3F2F-EC74-3D2E54B40CE4}"/>
              </a:ext>
            </a:extLst>
          </p:cNvPr>
          <p:cNvSpPr>
            <a:spLocks noGrp="1"/>
          </p:cNvSpPr>
          <p:nvPr>
            <p:ph idx="1"/>
          </p:nvPr>
        </p:nvSpPr>
        <p:spPr/>
        <p:txBody>
          <a:bodyPr>
            <a:normAutofit fontScale="62500" lnSpcReduction="20000"/>
          </a:bodyPr>
          <a:lstStyle/>
          <a:p>
            <a:r>
              <a:rPr lang="en-US" dirty="0"/>
              <a:t>Pie chart shows how customers split across different installment counts.</a:t>
            </a:r>
          </a:p>
          <a:p>
            <a:r>
              <a:rPr lang="en-US" dirty="0"/>
              <a:t>Reveals whether customers prefer </a:t>
            </a:r>
            <a:r>
              <a:rPr lang="en-US" b="1" dirty="0"/>
              <a:t>single-payment</a:t>
            </a:r>
            <a:r>
              <a:rPr lang="en-US" dirty="0"/>
              <a:t> orders or </a:t>
            </a:r>
            <a:r>
              <a:rPr lang="en-US" b="1" dirty="0"/>
              <a:t>multi-installment</a:t>
            </a:r>
            <a:r>
              <a:rPr lang="en-US" dirty="0"/>
              <a:t> financing.</a:t>
            </a:r>
          </a:p>
          <a:p>
            <a:r>
              <a:rPr lang="en-US" dirty="0"/>
              <a:t>Higher share of multi-installment usage may indicate price sensitivity or reliance on credit-based payments.</a:t>
            </a:r>
          </a:p>
          <a:p>
            <a:r>
              <a:rPr lang="en-US" dirty="0"/>
              <a:t>Helps identify the financial behavior of buyers and potential risks associated with delayed or failed payments.</a:t>
            </a:r>
          </a:p>
          <a:p>
            <a:r>
              <a:rPr lang="en-US" dirty="0"/>
              <a:t>Useful for designing pricing strategy, payment offers, and risk controls.</a:t>
            </a:r>
          </a:p>
          <a:p>
            <a:r>
              <a:rPr lang="en-US" b="1" dirty="0"/>
              <a:t>Key Insight / Action:</a:t>
            </a:r>
            <a:br>
              <a:rPr lang="en-US" dirty="0"/>
            </a:br>
            <a:r>
              <a:rPr lang="en-US" dirty="0"/>
              <a:t>If a large share of customers use 3+ installments, consider optimized EMI plans, upfront-discount strategies, or fraud checks for high-risk installment groups.</a:t>
            </a:r>
          </a:p>
          <a:p>
            <a:r>
              <a:rPr lang="en-US" b="1" dirty="0"/>
              <a:t>Caption (1 line):</a:t>
            </a:r>
            <a:br>
              <a:rPr lang="en-US" dirty="0"/>
            </a:br>
            <a:r>
              <a:rPr lang="en-US" dirty="0"/>
              <a:t>Installment segmentation highlights customer payment behavior and credit dependence.</a:t>
            </a:r>
          </a:p>
          <a:p>
            <a:r>
              <a:rPr lang="en-US" b="1" dirty="0"/>
              <a:t>Speaker Notes (short):</a:t>
            </a:r>
            <a:br>
              <a:rPr lang="en-US" dirty="0"/>
            </a:br>
            <a:r>
              <a:rPr lang="en-US" dirty="0"/>
              <a:t>This segmentation helps us understand how customers prefer to pay. Higher installment counts usually correlate with more checkout friction, greater risk of non-approval, and sometimes slower fulfillment. This informs both pricing strategy and risk management.</a:t>
            </a:r>
          </a:p>
          <a:p>
            <a:endParaRPr lang="en-IN" dirty="0"/>
          </a:p>
        </p:txBody>
      </p:sp>
    </p:spTree>
    <p:extLst>
      <p:ext uri="{BB962C8B-B14F-4D97-AF65-F5344CB8AC3E}">
        <p14:creationId xmlns:p14="http://schemas.microsoft.com/office/powerpoint/2010/main" val="20743993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10CB50F-ADD0-6626-518C-48F56036972B}"/>
              </a:ext>
            </a:extLst>
          </p:cNvPr>
          <p:cNvPicPr>
            <a:picLocks noChangeAspect="1"/>
          </p:cNvPicPr>
          <p:nvPr/>
        </p:nvPicPr>
        <p:blipFill>
          <a:blip r:embed="rId2"/>
          <a:stretch>
            <a:fillRect/>
          </a:stretch>
        </p:blipFill>
        <p:spPr>
          <a:xfrm>
            <a:off x="2438400" y="357909"/>
            <a:ext cx="7429500" cy="6238153"/>
          </a:xfrm>
          <a:prstGeom prst="rect">
            <a:avLst/>
          </a:prstGeom>
        </p:spPr>
      </p:pic>
    </p:spTree>
    <p:extLst>
      <p:ext uri="{BB962C8B-B14F-4D97-AF65-F5344CB8AC3E}">
        <p14:creationId xmlns:p14="http://schemas.microsoft.com/office/powerpoint/2010/main" val="34292468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C618E-F5AE-1B31-6159-BCBB1F65B0E0}"/>
              </a:ext>
            </a:extLst>
          </p:cNvPr>
          <p:cNvSpPr>
            <a:spLocks noGrp="1"/>
          </p:cNvSpPr>
          <p:nvPr>
            <p:ph type="title"/>
          </p:nvPr>
        </p:nvSpPr>
        <p:spPr/>
        <p:txBody>
          <a:bodyPr/>
          <a:lstStyle/>
          <a:p>
            <a:r>
              <a:rPr lang="en-US" b="1" dirty="0"/>
              <a:t>Customer Segmentation by Payment Behavior</a:t>
            </a:r>
            <a:endParaRPr lang="en-IN" b="1" dirty="0"/>
          </a:p>
        </p:txBody>
      </p:sp>
      <p:sp>
        <p:nvSpPr>
          <p:cNvPr id="3" name="Content Placeholder 2">
            <a:extLst>
              <a:ext uri="{FF2B5EF4-FFF2-40B4-BE49-F238E27FC236}">
                <a16:creationId xmlns:a16="http://schemas.microsoft.com/office/drawing/2014/main" id="{A55DDFFF-7251-DA5C-E544-02A57AAF9525}"/>
              </a:ext>
            </a:extLst>
          </p:cNvPr>
          <p:cNvSpPr>
            <a:spLocks noGrp="1"/>
          </p:cNvSpPr>
          <p:nvPr>
            <p:ph idx="1"/>
          </p:nvPr>
        </p:nvSpPr>
        <p:spPr/>
        <p:txBody>
          <a:bodyPr>
            <a:normAutofit fontScale="25000" lnSpcReduction="20000"/>
          </a:bodyPr>
          <a:lstStyle/>
          <a:p>
            <a:r>
              <a:rPr lang="en-US" sz="7200" dirty="0"/>
              <a:t>Customers are grouped into behavioral segments: </a:t>
            </a:r>
            <a:r>
              <a:rPr lang="en-US" sz="7200" b="1" dirty="0"/>
              <a:t>High EMI</a:t>
            </a:r>
            <a:r>
              <a:rPr lang="en-US" sz="7200" dirty="0"/>
              <a:t>, </a:t>
            </a:r>
            <a:r>
              <a:rPr lang="en-US" sz="7200" b="1" dirty="0"/>
              <a:t>COD/</a:t>
            </a:r>
            <a:r>
              <a:rPr lang="en-US" sz="7200" b="1" dirty="0" err="1"/>
              <a:t>Boleto</a:t>
            </a:r>
            <a:r>
              <a:rPr lang="en-US" sz="7200" dirty="0"/>
              <a:t>, </a:t>
            </a:r>
            <a:r>
              <a:rPr lang="en-US" sz="7200" b="1" dirty="0"/>
              <a:t>Low-Value Impulse</a:t>
            </a:r>
            <a:r>
              <a:rPr lang="en-US" sz="7200" dirty="0"/>
              <a:t>, </a:t>
            </a:r>
            <a:r>
              <a:rPr lang="en-US" sz="7200" b="1" dirty="0"/>
              <a:t>Premium</a:t>
            </a:r>
            <a:r>
              <a:rPr lang="en-US" sz="7200" dirty="0"/>
              <a:t>, and </a:t>
            </a:r>
            <a:r>
              <a:rPr lang="en-US" sz="7200" b="1" dirty="0"/>
              <a:t>Regular buyers</a:t>
            </a:r>
            <a:r>
              <a:rPr lang="en-US" sz="7200" dirty="0"/>
              <a:t>.</a:t>
            </a:r>
          </a:p>
          <a:p>
            <a:r>
              <a:rPr lang="en-US" sz="7200" dirty="0"/>
              <a:t>High-EMI buyers (≥ 3 installments) indicate higher price sensitivity and dependency on credit.</a:t>
            </a:r>
          </a:p>
          <a:p>
            <a:r>
              <a:rPr lang="en-US" sz="7200" dirty="0"/>
              <a:t>COD/</a:t>
            </a:r>
            <a:r>
              <a:rPr lang="en-US" sz="7200" dirty="0" err="1"/>
              <a:t>Boleto</a:t>
            </a:r>
            <a:r>
              <a:rPr lang="en-US" sz="7200" dirty="0"/>
              <a:t> shoppers prefer cash-linked or offline payment modes, often linked with higher abandonment or verification delays.</a:t>
            </a:r>
          </a:p>
          <a:p>
            <a:r>
              <a:rPr lang="en-US" sz="7200" dirty="0"/>
              <a:t>Low-value impulse buyers make small, frequent purchases and react strongly to discounts and fast shipping.</a:t>
            </a:r>
          </a:p>
          <a:p>
            <a:r>
              <a:rPr lang="en-US" sz="7200" dirty="0"/>
              <a:t>Premium buyers contribute disproportionately to revenue but demand consistent delivery quality.</a:t>
            </a:r>
          </a:p>
          <a:p>
            <a:r>
              <a:rPr lang="en-US" sz="7200" b="1" dirty="0"/>
              <a:t>Key Insight / Action:</a:t>
            </a:r>
            <a:br>
              <a:rPr lang="en-US" sz="7200" dirty="0"/>
            </a:br>
            <a:r>
              <a:rPr lang="en-US" sz="7200" dirty="0"/>
              <a:t>Design separate retention and risk strategies: tighten fraud rules for COD/</a:t>
            </a:r>
            <a:r>
              <a:rPr lang="en-US" sz="7200" dirty="0" err="1"/>
              <a:t>Boleto</a:t>
            </a:r>
            <a:r>
              <a:rPr lang="en-US" sz="7200" dirty="0"/>
              <a:t>, offer EMI-friendly bundles for credit-heavy users, and create loyalty perks for premium buyers.</a:t>
            </a:r>
          </a:p>
          <a:p>
            <a:r>
              <a:rPr lang="en-US" sz="7200" b="1" dirty="0"/>
              <a:t>Caption (1 line):</a:t>
            </a:r>
            <a:br>
              <a:rPr lang="en-US" sz="7200" dirty="0"/>
            </a:br>
            <a:r>
              <a:rPr lang="en-US" sz="7200" dirty="0"/>
              <a:t>Customer payment behavior reveals distinct buyer personas that require different operational and marketing strategies.</a:t>
            </a:r>
          </a:p>
          <a:p>
            <a:r>
              <a:rPr lang="en-US" sz="7200" b="1" dirty="0"/>
              <a:t>Speaker Notes (short):</a:t>
            </a:r>
            <a:br>
              <a:rPr lang="en-US" sz="7200" dirty="0"/>
            </a:br>
            <a:r>
              <a:rPr lang="en-US" sz="7200" dirty="0"/>
              <a:t>This segmentation helps us see how different buyer types behave financially. High-EMI customers are more price-sensitive, COD/</a:t>
            </a:r>
            <a:r>
              <a:rPr lang="en-US" sz="7200" dirty="0" err="1"/>
              <a:t>Boleto</a:t>
            </a:r>
            <a:r>
              <a:rPr lang="en-US" sz="7200" dirty="0"/>
              <a:t> buyers are operationally riskier, and premium buyers drive revenue but expect reliability. Tailoring communication, offers, and risk controls per segment increases both conversion and retention.</a:t>
            </a:r>
          </a:p>
          <a:p>
            <a:endParaRPr lang="en-IN" dirty="0"/>
          </a:p>
        </p:txBody>
      </p:sp>
    </p:spTree>
    <p:extLst>
      <p:ext uri="{BB962C8B-B14F-4D97-AF65-F5344CB8AC3E}">
        <p14:creationId xmlns:p14="http://schemas.microsoft.com/office/powerpoint/2010/main" val="38643518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BA2E756-CBB0-F7B7-9446-EEEAA8F4AD88}"/>
              </a:ext>
            </a:extLst>
          </p:cNvPr>
          <p:cNvPicPr>
            <a:picLocks noChangeAspect="1"/>
          </p:cNvPicPr>
          <p:nvPr/>
        </p:nvPicPr>
        <p:blipFill>
          <a:blip r:embed="rId2"/>
          <a:stretch>
            <a:fillRect/>
          </a:stretch>
        </p:blipFill>
        <p:spPr>
          <a:xfrm>
            <a:off x="2357437" y="304800"/>
            <a:ext cx="7477125" cy="6248400"/>
          </a:xfrm>
          <a:prstGeom prst="rect">
            <a:avLst/>
          </a:prstGeom>
        </p:spPr>
      </p:pic>
    </p:spTree>
    <p:extLst>
      <p:ext uri="{BB962C8B-B14F-4D97-AF65-F5344CB8AC3E}">
        <p14:creationId xmlns:p14="http://schemas.microsoft.com/office/powerpoint/2010/main" val="9350754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9BE91-A0B8-5874-60C1-D47CE1774885}"/>
              </a:ext>
            </a:extLst>
          </p:cNvPr>
          <p:cNvSpPr>
            <a:spLocks noGrp="1"/>
          </p:cNvSpPr>
          <p:nvPr>
            <p:ph type="title"/>
          </p:nvPr>
        </p:nvSpPr>
        <p:spPr/>
        <p:txBody>
          <a:bodyPr/>
          <a:lstStyle/>
          <a:p>
            <a:r>
              <a:rPr lang="en-US" b="1" dirty="0"/>
              <a:t>Customer Segmentation by Payment Value Quantiles</a:t>
            </a:r>
            <a:endParaRPr lang="en-IN" b="1" dirty="0"/>
          </a:p>
        </p:txBody>
      </p:sp>
      <p:sp>
        <p:nvSpPr>
          <p:cNvPr id="3" name="Content Placeholder 2">
            <a:extLst>
              <a:ext uri="{FF2B5EF4-FFF2-40B4-BE49-F238E27FC236}">
                <a16:creationId xmlns:a16="http://schemas.microsoft.com/office/drawing/2014/main" id="{22C076A1-D3E1-7451-7EE2-BEAAEBA03974}"/>
              </a:ext>
            </a:extLst>
          </p:cNvPr>
          <p:cNvSpPr>
            <a:spLocks noGrp="1"/>
          </p:cNvSpPr>
          <p:nvPr>
            <p:ph idx="1"/>
          </p:nvPr>
        </p:nvSpPr>
        <p:spPr/>
        <p:txBody>
          <a:bodyPr>
            <a:normAutofit fontScale="62500" lnSpcReduction="20000"/>
          </a:bodyPr>
          <a:lstStyle/>
          <a:p>
            <a:r>
              <a:rPr lang="en-US" dirty="0"/>
              <a:t>Customers are segmented using value quantiles: </a:t>
            </a:r>
            <a:r>
              <a:rPr lang="en-US" b="1" dirty="0"/>
              <a:t>Ultra Low</a:t>
            </a:r>
            <a:r>
              <a:rPr lang="en-US" dirty="0"/>
              <a:t>, </a:t>
            </a:r>
            <a:r>
              <a:rPr lang="en-US" b="1" dirty="0"/>
              <a:t>Low</a:t>
            </a:r>
            <a:r>
              <a:rPr lang="en-US" dirty="0"/>
              <a:t>, </a:t>
            </a:r>
            <a:r>
              <a:rPr lang="en-US" b="1" dirty="0"/>
              <a:t>Middle</a:t>
            </a:r>
            <a:r>
              <a:rPr lang="en-US" dirty="0"/>
              <a:t>, </a:t>
            </a:r>
            <a:r>
              <a:rPr lang="en-US" b="1" dirty="0"/>
              <a:t>Premium</a:t>
            </a:r>
            <a:r>
              <a:rPr lang="en-US" dirty="0"/>
              <a:t>, </a:t>
            </a:r>
            <a:r>
              <a:rPr lang="en-US" b="1" dirty="0"/>
              <a:t>Ultra Premium</a:t>
            </a:r>
            <a:r>
              <a:rPr lang="en-US" dirty="0"/>
              <a:t>, and </a:t>
            </a:r>
            <a:r>
              <a:rPr lang="en-US" b="1" dirty="0"/>
              <a:t>Top 1% Buyers</a:t>
            </a:r>
            <a:r>
              <a:rPr lang="en-US" dirty="0"/>
              <a:t>.</a:t>
            </a:r>
          </a:p>
          <a:p>
            <a:r>
              <a:rPr lang="en-US" dirty="0"/>
              <a:t>Middle segment (25–75%) typically represents the mainstream volume buyers.</a:t>
            </a:r>
          </a:p>
          <a:p>
            <a:r>
              <a:rPr lang="en-US" dirty="0"/>
              <a:t>Premium and Ultra Premium segments pay significantly higher than average, contributing a large share of revenue.</a:t>
            </a:r>
          </a:p>
          <a:p>
            <a:r>
              <a:rPr lang="en-US" dirty="0"/>
              <a:t>Top 1% Buyers represent extremely high-value orders — small in count but critical for margin.</a:t>
            </a:r>
          </a:p>
          <a:p>
            <a:r>
              <a:rPr lang="en-US" dirty="0"/>
              <a:t>Ultra Low and Low segments indicate budget-sensitive customers with lower-ticket purchases.</a:t>
            </a:r>
          </a:p>
          <a:p>
            <a:r>
              <a:rPr lang="en-US" b="1" dirty="0"/>
              <a:t>Key Insight / Action:</a:t>
            </a:r>
            <a:br>
              <a:rPr lang="en-US" dirty="0"/>
            </a:br>
            <a:r>
              <a:rPr lang="en-US" dirty="0"/>
              <a:t>Develop differentiated strategies: retention for high-value buyers, targeted upsell/cross-sell for mid-tier customers, and discount-driven acquisition for low-value segments.</a:t>
            </a:r>
          </a:p>
          <a:p>
            <a:r>
              <a:rPr lang="en-US" b="1" dirty="0"/>
              <a:t>Caption (1 line):</a:t>
            </a:r>
            <a:br>
              <a:rPr lang="en-US" dirty="0"/>
            </a:br>
            <a:r>
              <a:rPr lang="en-US" dirty="0"/>
              <a:t>Quantile-based segmentation exposes how customer value is distributed across low-, mid-, and high-spending groups.</a:t>
            </a:r>
          </a:p>
          <a:p>
            <a:r>
              <a:rPr lang="en-US" b="1" dirty="0"/>
              <a:t>Speaker Notes (short):</a:t>
            </a:r>
            <a:br>
              <a:rPr lang="en-US" dirty="0"/>
            </a:br>
            <a:r>
              <a:rPr lang="en-US" dirty="0"/>
              <a:t>Quantile segmentation helps us separate the heavy spenders from the low-ticket users. The top 1% and premium segments drive revenue and need tailored retention. Meanwhile, ultra low-value buyers are more discount-driven, and the middle segment represents scalable upsell opportunities.</a:t>
            </a:r>
          </a:p>
          <a:p>
            <a:endParaRPr lang="en-IN" dirty="0"/>
          </a:p>
        </p:txBody>
      </p:sp>
    </p:spTree>
    <p:extLst>
      <p:ext uri="{BB962C8B-B14F-4D97-AF65-F5344CB8AC3E}">
        <p14:creationId xmlns:p14="http://schemas.microsoft.com/office/powerpoint/2010/main" val="12998987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E1FF3D-D96E-9B3D-4BA7-D98CFD942C6C}"/>
              </a:ext>
            </a:extLst>
          </p:cNvPr>
          <p:cNvPicPr>
            <a:picLocks noChangeAspect="1"/>
          </p:cNvPicPr>
          <p:nvPr/>
        </p:nvPicPr>
        <p:blipFill>
          <a:blip r:embed="rId2"/>
          <a:stretch>
            <a:fillRect/>
          </a:stretch>
        </p:blipFill>
        <p:spPr>
          <a:xfrm>
            <a:off x="2266950" y="304800"/>
            <a:ext cx="7658100" cy="6248400"/>
          </a:xfrm>
          <a:prstGeom prst="rect">
            <a:avLst/>
          </a:prstGeom>
        </p:spPr>
      </p:pic>
    </p:spTree>
    <p:extLst>
      <p:ext uri="{BB962C8B-B14F-4D97-AF65-F5344CB8AC3E}">
        <p14:creationId xmlns:p14="http://schemas.microsoft.com/office/powerpoint/2010/main" val="2538475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C3901-F6E3-45C4-4386-3FCD644A18CD}"/>
              </a:ext>
            </a:extLst>
          </p:cNvPr>
          <p:cNvSpPr>
            <a:spLocks noGrp="1"/>
          </p:cNvSpPr>
          <p:nvPr>
            <p:ph type="title"/>
          </p:nvPr>
        </p:nvSpPr>
        <p:spPr/>
        <p:txBody>
          <a:bodyPr/>
          <a:lstStyle/>
          <a:p>
            <a:r>
              <a:rPr lang="en-IN" b="1" dirty="0"/>
              <a:t>Customer Repeat </a:t>
            </a:r>
            <a:r>
              <a:rPr lang="en-IN" b="1" dirty="0" err="1"/>
              <a:t>Behavior</a:t>
            </a:r>
            <a:endParaRPr lang="en-IN" b="1" dirty="0"/>
          </a:p>
        </p:txBody>
      </p:sp>
      <p:sp>
        <p:nvSpPr>
          <p:cNvPr id="3" name="Content Placeholder 2">
            <a:extLst>
              <a:ext uri="{FF2B5EF4-FFF2-40B4-BE49-F238E27FC236}">
                <a16:creationId xmlns:a16="http://schemas.microsoft.com/office/drawing/2014/main" id="{14350B68-86BB-EA53-390A-1F73915D676C}"/>
              </a:ext>
            </a:extLst>
          </p:cNvPr>
          <p:cNvSpPr>
            <a:spLocks noGrp="1"/>
          </p:cNvSpPr>
          <p:nvPr>
            <p:ph idx="1"/>
          </p:nvPr>
        </p:nvSpPr>
        <p:spPr/>
        <p:txBody>
          <a:bodyPr>
            <a:normAutofit fontScale="70000" lnSpcReduction="20000"/>
          </a:bodyPr>
          <a:lstStyle/>
          <a:p>
            <a:r>
              <a:rPr lang="en-US" dirty="0"/>
              <a:t>Pie chart shows how many customers purchased only once vs how many returned for additional orders.</a:t>
            </a:r>
          </a:p>
          <a:p>
            <a:r>
              <a:rPr lang="en-US" dirty="0"/>
              <a:t>One-time customers typically reflect acquisition success but weak retention.</a:t>
            </a:r>
          </a:p>
          <a:p>
            <a:r>
              <a:rPr lang="en-US" dirty="0"/>
              <a:t>Repeat customers signal satisfaction, trust, and strong product–market fit.</a:t>
            </a:r>
          </a:p>
          <a:p>
            <a:r>
              <a:rPr lang="en-US" dirty="0"/>
              <a:t>A low repeat share indicates high churn and possible issues in delivery, pricing, or category mix.</a:t>
            </a:r>
          </a:p>
          <a:p>
            <a:r>
              <a:rPr lang="en-US" dirty="0"/>
              <a:t>Understanding this split helps design retention programs and loyalty campaigns.</a:t>
            </a:r>
          </a:p>
          <a:p>
            <a:r>
              <a:rPr lang="en-US" b="1" dirty="0"/>
              <a:t>Key Insight / Action:</a:t>
            </a:r>
            <a:br>
              <a:rPr lang="en-US" dirty="0"/>
            </a:br>
            <a:r>
              <a:rPr lang="en-US" dirty="0"/>
              <a:t>If repeat customers form a small percentage, invest in post-purchase experiences — faster delivery, proactive communication, personalized offers — to boost repeat rates.</a:t>
            </a:r>
          </a:p>
          <a:p>
            <a:r>
              <a:rPr lang="en-US" b="1" dirty="0"/>
              <a:t>Caption (1 line):</a:t>
            </a:r>
            <a:br>
              <a:rPr lang="en-US" dirty="0"/>
            </a:br>
            <a:r>
              <a:rPr lang="en-US" dirty="0"/>
              <a:t>Repeat behavior reveals the long-term value and loyalty potential of the customer base.</a:t>
            </a:r>
          </a:p>
          <a:p>
            <a:r>
              <a:rPr lang="en-US" b="1" dirty="0"/>
              <a:t>Speaker Notes (short):</a:t>
            </a:r>
            <a:br>
              <a:rPr lang="en-US" dirty="0"/>
            </a:br>
            <a:r>
              <a:rPr lang="en-US" dirty="0"/>
              <a:t>This metric is critical for business sustainability. New acquisitions are expensive; retention is cheaper and more profitable. A strong repeat customer base is a sign of operational excellence and product satisfaction. A weak one means the business is leaking value despite high acquisition.</a:t>
            </a:r>
          </a:p>
          <a:p>
            <a:endParaRPr lang="en-IN" dirty="0"/>
          </a:p>
        </p:txBody>
      </p:sp>
    </p:spTree>
    <p:extLst>
      <p:ext uri="{BB962C8B-B14F-4D97-AF65-F5344CB8AC3E}">
        <p14:creationId xmlns:p14="http://schemas.microsoft.com/office/powerpoint/2010/main" val="39654829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7B6AE96-C78B-FC3B-30BE-A99CA63DF7B4}"/>
              </a:ext>
            </a:extLst>
          </p:cNvPr>
          <p:cNvPicPr>
            <a:picLocks noChangeAspect="1"/>
          </p:cNvPicPr>
          <p:nvPr/>
        </p:nvPicPr>
        <p:blipFill>
          <a:blip r:embed="rId2"/>
          <a:stretch>
            <a:fillRect/>
          </a:stretch>
        </p:blipFill>
        <p:spPr>
          <a:xfrm>
            <a:off x="2795954" y="542954"/>
            <a:ext cx="5831131" cy="6085713"/>
          </a:xfrm>
          <a:prstGeom prst="rect">
            <a:avLst/>
          </a:prstGeom>
        </p:spPr>
      </p:pic>
    </p:spTree>
    <p:extLst>
      <p:ext uri="{BB962C8B-B14F-4D97-AF65-F5344CB8AC3E}">
        <p14:creationId xmlns:p14="http://schemas.microsoft.com/office/powerpoint/2010/main" val="36616696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DFFAF-5879-C4F2-9F83-15304A52739B}"/>
              </a:ext>
            </a:extLst>
          </p:cNvPr>
          <p:cNvSpPr>
            <a:spLocks noGrp="1"/>
          </p:cNvSpPr>
          <p:nvPr>
            <p:ph type="title"/>
          </p:nvPr>
        </p:nvSpPr>
        <p:spPr/>
        <p:txBody>
          <a:bodyPr/>
          <a:lstStyle/>
          <a:p>
            <a:r>
              <a:rPr lang="en-IN" b="1" dirty="0"/>
              <a:t>Monthly Revenue Heatmap</a:t>
            </a:r>
          </a:p>
        </p:txBody>
      </p:sp>
      <p:sp>
        <p:nvSpPr>
          <p:cNvPr id="3" name="Content Placeholder 2">
            <a:extLst>
              <a:ext uri="{FF2B5EF4-FFF2-40B4-BE49-F238E27FC236}">
                <a16:creationId xmlns:a16="http://schemas.microsoft.com/office/drawing/2014/main" id="{02C323A2-E431-973B-5948-5A0E20D81BF7}"/>
              </a:ext>
            </a:extLst>
          </p:cNvPr>
          <p:cNvSpPr>
            <a:spLocks noGrp="1"/>
          </p:cNvSpPr>
          <p:nvPr>
            <p:ph idx="1"/>
          </p:nvPr>
        </p:nvSpPr>
        <p:spPr/>
        <p:txBody>
          <a:bodyPr>
            <a:normAutofit fontScale="70000" lnSpcReduction="20000"/>
          </a:bodyPr>
          <a:lstStyle/>
          <a:p>
            <a:r>
              <a:rPr lang="en-US" dirty="0"/>
              <a:t>Heatmap displays </a:t>
            </a:r>
            <a:r>
              <a:rPr lang="en-US" b="1" dirty="0"/>
              <a:t>total monthly revenue</a:t>
            </a:r>
            <a:r>
              <a:rPr lang="en-US" dirty="0"/>
              <a:t>, with darker red representing higher revenue months.</a:t>
            </a:r>
          </a:p>
          <a:p>
            <a:r>
              <a:rPr lang="en-US" dirty="0"/>
              <a:t>Clearly highlights seasonal peaks and dips in revenue performance.</a:t>
            </a:r>
          </a:p>
          <a:p>
            <a:r>
              <a:rPr lang="en-US" dirty="0"/>
              <a:t>Easy to identify </a:t>
            </a:r>
            <a:r>
              <a:rPr lang="en-US" b="1" dirty="0"/>
              <a:t>high-demand periods</a:t>
            </a:r>
            <a:r>
              <a:rPr lang="en-US" dirty="0"/>
              <a:t> vs </a:t>
            </a:r>
            <a:r>
              <a:rPr lang="en-US" b="1" dirty="0"/>
              <a:t>low-activity months</a:t>
            </a:r>
            <a:r>
              <a:rPr lang="en-US" dirty="0"/>
              <a:t> at a glance.</a:t>
            </a:r>
          </a:p>
          <a:p>
            <a:r>
              <a:rPr lang="en-US" dirty="0"/>
              <a:t>Single-column heatmap emphasizes trend progression across time without visual noise.</a:t>
            </a:r>
          </a:p>
          <a:p>
            <a:r>
              <a:rPr lang="en-US" dirty="0"/>
              <a:t>Useful for forecasting, inventory planning, and campaign scheduling.</a:t>
            </a:r>
          </a:p>
          <a:p>
            <a:r>
              <a:rPr lang="en-US" b="1" dirty="0"/>
              <a:t>Key Insight / Action:</a:t>
            </a:r>
            <a:br>
              <a:rPr lang="en-US" dirty="0"/>
            </a:br>
            <a:r>
              <a:rPr lang="en-US" dirty="0"/>
              <a:t>Focus marketing + inventory strategy around high-revenue months, and create targeted promotions during low-revenue periods to stabilize demand.</a:t>
            </a:r>
          </a:p>
          <a:p>
            <a:r>
              <a:rPr lang="en-US" b="1" dirty="0"/>
              <a:t>Caption (1 line):</a:t>
            </a:r>
            <a:br>
              <a:rPr lang="en-US" dirty="0"/>
            </a:br>
            <a:r>
              <a:rPr lang="en-US" dirty="0"/>
              <a:t>Monthly heat intensity reveals clear seasonal revenue patterns.</a:t>
            </a:r>
          </a:p>
          <a:p>
            <a:r>
              <a:rPr lang="en-US" b="1" dirty="0"/>
              <a:t>Speaker Notes (short):</a:t>
            </a:r>
            <a:br>
              <a:rPr lang="en-US" dirty="0"/>
            </a:br>
            <a:r>
              <a:rPr lang="en-US" dirty="0"/>
              <a:t>This heatmap is designed to show revenue momentum month-by-month. Darker shades indicate stronger performance. It’s ideal for spotting seasonal behavior, performance surges, and possible operational bottlenecks in slower months. This directly informs budgeting, supply chain, and promotional timing.</a:t>
            </a:r>
          </a:p>
          <a:p>
            <a:endParaRPr lang="en-IN" dirty="0"/>
          </a:p>
        </p:txBody>
      </p:sp>
    </p:spTree>
    <p:extLst>
      <p:ext uri="{BB962C8B-B14F-4D97-AF65-F5344CB8AC3E}">
        <p14:creationId xmlns:p14="http://schemas.microsoft.com/office/powerpoint/2010/main" val="19894137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6CBFCCC-DD69-A603-8651-7D35DDBC4EE2}"/>
              </a:ext>
            </a:extLst>
          </p:cNvPr>
          <p:cNvPicPr>
            <a:picLocks noChangeAspect="1"/>
          </p:cNvPicPr>
          <p:nvPr/>
        </p:nvPicPr>
        <p:blipFill>
          <a:blip r:embed="rId2"/>
          <a:stretch>
            <a:fillRect/>
          </a:stretch>
        </p:blipFill>
        <p:spPr>
          <a:xfrm>
            <a:off x="2817318" y="234463"/>
            <a:ext cx="6754574" cy="6506307"/>
          </a:xfrm>
          <a:prstGeom prst="rect">
            <a:avLst/>
          </a:prstGeom>
        </p:spPr>
      </p:pic>
    </p:spTree>
    <p:extLst>
      <p:ext uri="{BB962C8B-B14F-4D97-AF65-F5344CB8AC3E}">
        <p14:creationId xmlns:p14="http://schemas.microsoft.com/office/powerpoint/2010/main" val="12241793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122E0-F924-E65B-87D0-59FCCC4862B0}"/>
              </a:ext>
            </a:extLst>
          </p:cNvPr>
          <p:cNvSpPr>
            <a:spLocks noGrp="1"/>
          </p:cNvSpPr>
          <p:nvPr>
            <p:ph type="title"/>
          </p:nvPr>
        </p:nvSpPr>
        <p:spPr/>
        <p:txBody>
          <a:bodyPr/>
          <a:lstStyle/>
          <a:p>
            <a:r>
              <a:rPr lang="en-US" b="1" dirty="0"/>
              <a:t>Highest Price Sales by State</a:t>
            </a:r>
            <a:endParaRPr lang="en-IN" b="1" dirty="0"/>
          </a:p>
        </p:txBody>
      </p:sp>
      <p:sp>
        <p:nvSpPr>
          <p:cNvPr id="3" name="Content Placeholder 2">
            <a:extLst>
              <a:ext uri="{FF2B5EF4-FFF2-40B4-BE49-F238E27FC236}">
                <a16:creationId xmlns:a16="http://schemas.microsoft.com/office/drawing/2014/main" id="{1C44F6E0-B042-A77D-DBA7-F163416DD7D3}"/>
              </a:ext>
            </a:extLst>
          </p:cNvPr>
          <p:cNvSpPr>
            <a:spLocks noGrp="1"/>
          </p:cNvSpPr>
          <p:nvPr>
            <p:ph idx="1"/>
          </p:nvPr>
        </p:nvSpPr>
        <p:spPr/>
        <p:txBody>
          <a:bodyPr>
            <a:normAutofit fontScale="70000" lnSpcReduction="20000"/>
          </a:bodyPr>
          <a:lstStyle/>
          <a:p>
            <a:r>
              <a:rPr lang="en-US" dirty="0"/>
              <a:t>Displays the lowest-priced order per state — often ultra-low-value or impulse purchases.</a:t>
            </a:r>
          </a:p>
          <a:p>
            <a:r>
              <a:rPr lang="en-US" dirty="0"/>
              <a:t>States with very low minimum values may have higher sensitivity to discounts and pricing.</a:t>
            </a:r>
          </a:p>
          <a:p>
            <a:r>
              <a:rPr lang="en-US" dirty="0"/>
              <a:t>Indicates where customers frequently place micro-orders (budget-friendly or convenience-driven items).</a:t>
            </a:r>
          </a:p>
          <a:p>
            <a:r>
              <a:rPr lang="en-US" dirty="0"/>
              <a:t>Useful for identifying regions suitable for bulk discounts, small-ticket products, or free-shipping thresholds.</a:t>
            </a:r>
          </a:p>
          <a:p>
            <a:r>
              <a:rPr lang="en-US" dirty="0"/>
              <a:t>Helps detect markets with stronger low-income or price-conscious demand patterns.</a:t>
            </a:r>
          </a:p>
          <a:p>
            <a:r>
              <a:rPr lang="en-US" b="1" dirty="0"/>
              <a:t>Key Insight / Action:</a:t>
            </a:r>
            <a:br>
              <a:rPr lang="en-US" dirty="0"/>
            </a:br>
            <a:r>
              <a:rPr lang="en-US" dirty="0"/>
              <a:t>Run discount-driven acquisition strategies or low-ticket product promotions in states with extremely low minimum order values.</a:t>
            </a:r>
          </a:p>
          <a:p>
            <a:r>
              <a:rPr lang="en-US" b="1" dirty="0"/>
              <a:t>Caption (1 line):</a:t>
            </a:r>
            <a:br>
              <a:rPr lang="en-US" dirty="0"/>
            </a:br>
            <a:r>
              <a:rPr lang="en-US" dirty="0"/>
              <a:t>Min payment values help identify states with stronger low-ticket purchasing behavior.</a:t>
            </a:r>
          </a:p>
          <a:p>
            <a:r>
              <a:rPr lang="en-US" b="1" dirty="0"/>
              <a:t>Speaker Notes (short):</a:t>
            </a:r>
            <a:br>
              <a:rPr lang="en-US" dirty="0"/>
            </a:br>
            <a:r>
              <a:rPr lang="en-US" dirty="0"/>
              <a:t>Minimum-value variation guides tactical pricing strategy. Some states act as low-ticket markets; understanding these can optimize discount usage and reduce unnecessary marketing spend.</a:t>
            </a:r>
          </a:p>
          <a:p>
            <a:endParaRPr lang="en-IN" dirty="0"/>
          </a:p>
        </p:txBody>
      </p:sp>
    </p:spTree>
    <p:extLst>
      <p:ext uri="{BB962C8B-B14F-4D97-AF65-F5344CB8AC3E}">
        <p14:creationId xmlns:p14="http://schemas.microsoft.com/office/powerpoint/2010/main" val="19611425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ED0F351-6AD8-13C9-D95A-39E0D585745F}"/>
              </a:ext>
            </a:extLst>
          </p:cNvPr>
          <p:cNvPicPr>
            <a:picLocks noChangeAspect="1"/>
          </p:cNvPicPr>
          <p:nvPr/>
        </p:nvPicPr>
        <p:blipFill>
          <a:blip r:embed="rId2"/>
          <a:stretch>
            <a:fillRect/>
          </a:stretch>
        </p:blipFill>
        <p:spPr>
          <a:xfrm>
            <a:off x="140310" y="973015"/>
            <a:ext cx="11707474" cy="4824779"/>
          </a:xfrm>
          <a:prstGeom prst="rect">
            <a:avLst/>
          </a:prstGeom>
        </p:spPr>
      </p:pic>
    </p:spTree>
    <p:extLst>
      <p:ext uri="{BB962C8B-B14F-4D97-AF65-F5344CB8AC3E}">
        <p14:creationId xmlns:p14="http://schemas.microsoft.com/office/powerpoint/2010/main" val="31542018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B31E4-E6BC-7550-6C67-E8D176675617}"/>
              </a:ext>
            </a:extLst>
          </p:cNvPr>
          <p:cNvSpPr>
            <a:spLocks noGrp="1"/>
          </p:cNvSpPr>
          <p:nvPr>
            <p:ph type="title"/>
          </p:nvPr>
        </p:nvSpPr>
        <p:spPr/>
        <p:txBody>
          <a:bodyPr/>
          <a:lstStyle/>
          <a:p>
            <a:r>
              <a:rPr lang="en-US" b="1" dirty="0"/>
              <a:t>Lowest Price Sales by State</a:t>
            </a:r>
            <a:endParaRPr lang="en-IN" b="1" dirty="0"/>
          </a:p>
        </p:txBody>
      </p:sp>
      <p:sp>
        <p:nvSpPr>
          <p:cNvPr id="3" name="Content Placeholder 2">
            <a:extLst>
              <a:ext uri="{FF2B5EF4-FFF2-40B4-BE49-F238E27FC236}">
                <a16:creationId xmlns:a16="http://schemas.microsoft.com/office/drawing/2014/main" id="{4503A2A5-AD58-88D8-6D30-65C81AC3AFF8}"/>
              </a:ext>
            </a:extLst>
          </p:cNvPr>
          <p:cNvSpPr>
            <a:spLocks noGrp="1"/>
          </p:cNvSpPr>
          <p:nvPr>
            <p:ph idx="1"/>
          </p:nvPr>
        </p:nvSpPr>
        <p:spPr/>
        <p:txBody>
          <a:bodyPr>
            <a:normAutofit fontScale="70000" lnSpcReduction="20000"/>
          </a:bodyPr>
          <a:lstStyle/>
          <a:p>
            <a:r>
              <a:rPr lang="en-US" dirty="0"/>
              <a:t>Displays the lowest-priced order per state — often ultra-low-value or impulse purchases.</a:t>
            </a:r>
          </a:p>
          <a:p>
            <a:r>
              <a:rPr lang="en-US" dirty="0"/>
              <a:t>States with very low minimum values may have higher sensitivity to discounts and pricing.</a:t>
            </a:r>
          </a:p>
          <a:p>
            <a:r>
              <a:rPr lang="en-US" dirty="0"/>
              <a:t>Indicates where customers frequently place micro-orders (budget-friendly or convenience-driven items).</a:t>
            </a:r>
          </a:p>
          <a:p>
            <a:r>
              <a:rPr lang="en-US" dirty="0"/>
              <a:t>Useful for identifying regions suitable for bulk discounts, small-ticket products, or free-shipping thresholds.</a:t>
            </a:r>
          </a:p>
          <a:p>
            <a:r>
              <a:rPr lang="en-US" dirty="0"/>
              <a:t>Helps detect markets with stronger low-income or price-conscious demand patterns.</a:t>
            </a:r>
          </a:p>
          <a:p>
            <a:r>
              <a:rPr lang="en-US" b="1" dirty="0"/>
              <a:t>Key Insight / Action:</a:t>
            </a:r>
            <a:br>
              <a:rPr lang="en-US" dirty="0"/>
            </a:br>
            <a:r>
              <a:rPr lang="en-US" dirty="0"/>
              <a:t>Run discount-driven acquisition strategies or low-ticket product promotions in states with extremely low minimum order values.</a:t>
            </a:r>
          </a:p>
          <a:p>
            <a:r>
              <a:rPr lang="en-US" b="1" dirty="0"/>
              <a:t>Caption (1 line):</a:t>
            </a:r>
            <a:br>
              <a:rPr lang="en-US" dirty="0"/>
            </a:br>
            <a:r>
              <a:rPr lang="en-US" dirty="0"/>
              <a:t>Min payment values help identify states with stronger low-ticket purchasing behavior.</a:t>
            </a:r>
          </a:p>
          <a:p>
            <a:r>
              <a:rPr lang="en-US" b="1" dirty="0"/>
              <a:t>Speaker Notes (short):</a:t>
            </a:r>
            <a:br>
              <a:rPr lang="en-US" dirty="0"/>
            </a:br>
            <a:r>
              <a:rPr lang="en-US" dirty="0"/>
              <a:t>Minimum-value variation guides tactical pricing strategy. Some states act as low-ticket markets; understanding these can optimize discount usage and reduce unnecessary marketing spend.</a:t>
            </a:r>
          </a:p>
          <a:p>
            <a:endParaRPr lang="en-IN" dirty="0"/>
          </a:p>
        </p:txBody>
      </p:sp>
    </p:spTree>
    <p:extLst>
      <p:ext uri="{BB962C8B-B14F-4D97-AF65-F5344CB8AC3E}">
        <p14:creationId xmlns:p14="http://schemas.microsoft.com/office/powerpoint/2010/main" val="10695696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53E9B4A-590B-8FF4-E6CF-4B678C03600B}"/>
              </a:ext>
            </a:extLst>
          </p:cNvPr>
          <p:cNvPicPr>
            <a:picLocks noChangeAspect="1"/>
          </p:cNvPicPr>
          <p:nvPr/>
        </p:nvPicPr>
        <p:blipFill>
          <a:blip r:embed="rId2"/>
          <a:stretch>
            <a:fillRect/>
          </a:stretch>
        </p:blipFill>
        <p:spPr>
          <a:xfrm>
            <a:off x="270709" y="1028333"/>
            <a:ext cx="11650582" cy="4801333"/>
          </a:xfrm>
          <a:prstGeom prst="rect">
            <a:avLst/>
          </a:prstGeom>
        </p:spPr>
      </p:pic>
    </p:spTree>
    <p:extLst>
      <p:ext uri="{BB962C8B-B14F-4D97-AF65-F5344CB8AC3E}">
        <p14:creationId xmlns:p14="http://schemas.microsoft.com/office/powerpoint/2010/main" val="40690302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59F2E-FC46-36B1-2D1E-A324F83283CA}"/>
              </a:ext>
            </a:extLst>
          </p:cNvPr>
          <p:cNvSpPr>
            <a:spLocks noGrp="1"/>
          </p:cNvSpPr>
          <p:nvPr>
            <p:ph type="title"/>
          </p:nvPr>
        </p:nvSpPr>
        <p:spPr/>
        <p:txBody>
          <a:bodyPr/>
          <a:lstStyle/>
          <a:p>
            <a:r>
              <a:rPr lang="en-US" b="1" dirty="0"/>
              <a:t>State-Wise Average Delivery Completion Time</a:t>
            </a:r>
            <a:endParaRPr lang="en-IN" b="1" dirty="0"/>
          </a:p>
        </p:txBody>
      </p:sp>
      <p:sp>
        <p:nvSpPr>
          <p:cNvPr id="3" name="Content Placeholder 2">
            <a:extLst>
              <a:ext uri="{FF2B5EF4-FFF2-40B4-BE49-F238E27FC236}">
                <a16:creationId xmlns:a16="http://schemas.microsoft.com/office/drawing/2014/main" id="{6C5C651D-19C2-BD96-BE50-C91C86F7BCB1}"/>
              </a:ext>
            </a:extLst>
          </p:cNvPr>
          <p:cNvSpPr>
            <a:spLocks noGrp="1"/>
          </p:cNvSpPr>
          <p:nvPr>
            <p:ph idx="1"/>
          </p:nvPr>
        </p:nvSpPr>
        <p:spPr/>
        <p:txBody>
          <a:bodyPr>
            <a:normAutofit fontScale="62500" lnSpcReduction="20000"/>
          </a:bodyPr>
          <a:lstStyle/>
          <a:p>
            <a:r>
              <a:rPr lang="en-US" dirty="0"/>
              <a:t>Delivery time includes </a:t>
            </a:r>
            <a:r>
              <a:rPr lang="en-US" b="1" dirty="0"/>
              <a:t>seller processing</a:t>
            </a:r>
            <a:r>
              <a:rPr lang="en-US" dirty="0"/>
              <a:t>, </a:t>
            </a:r>
            <a:r>
              <a:rPr lang="en-US" b="1" dirty="0"/>
              <a:t>carrier pickup</a:t>
            </a:r>
            <a:r>
              <a:rPr lang="en-US" dirty="0"/>
              <a:t>, and </a:t>
            </a:r>
            <a:r>
              <a:rPr lang="en-US" b="1" dirty="0"/>
              <a:t>final delivery</a:t>
            </a:r>
            <a:r>
              <a:rPr lang="en-US" dirty="0"/>
              <a:t> to the customer.</a:t>
            </a:r>
          </a:p>
          <a:p>
            <a:r>
              <a:rPr lang="en-US" dirty="0"/>
              <a:t>States show clear variation in total delivery days due to distance, logistics network strength, and carrier availability.</a:t>
            </a:r>
          </a:p>
          <a:p>
            <a:r>
              <a:rPr lang="en-US" dirty="0"/>
              <a:t>Faster states indicate strong fulfillment infrastructure or closer proximity to sellers/warehouses.</a:t>
            </a:r>
          </a:p>
          <a:p>
            <a:r>
              <a:rPr lang="en-US" dirty="0"/>
              <a:t>Slower states reveal bottlenecks such as long-distance routing, inefficient carrier coverage, or late seller dispatch.</a:t>
            </a:r>
          </a:p>
          <a:p>
            <a:r>
              <a:rPr lang="en-US" dirty="0"/>
              <a:t>Helps identify regions where delivery SLAs are consistently at risk.</a:t>
            </a:r>
          </a:p>
          <a:p>
            <a:r>
              <a:rPr lang="en-US" b="1" dirty="0"/>
              <a:t>Key Insight / Action:</a:t>
            </a:r>
            <a:br>
              <a:rPr lang="en-US" dirty="0"/>
            </a:br>
            <a:r>
              <a:rPr lang="en-US" dirty="0"/>
              <a:t>Prioritize improving logistics routes and onboarding regional sellers/carrier partners in states with the highest delivery times to reduce delays and boost customer satisfaction.</a:t>
            </a:r>
          </a:p>
          <a:p>
            <a:r>
              <a:rPr lang="en-US" b="1" dirty="0"/>
              <a:t>Caption (1 line):</a:t>
            </a:r>
            <a:br>
              <a:rPr lang="en-US" dirty="0"/>
            </a:br>
            <a:r>
              <a:rPr lang="en-US" dirty="0"/>
              <a:t>State-level delivery times reveal operational strengths and weaknesses in the national supply chain.</a:t>
            </a:r>
          </a:p>
          <a:p>
            <a:r>
              <a:rPr lang="en-US" b="1" dirty="0"/>
              <a:t>Speaker Notes (short):</a:t>
            </a:r>
            <a:br>
              <a:rPr lang="en-US" dirty="0"/>
            </a:br>
            <a:r>
              <a:rPr lang="en-US" dirty="0"/>
              <a:t>The chart shows where the logistics network performs well and where it struggles. High delivery times usually mean carrier delays or long-distance shipments. This insight guides decisions like new warehouse locations, carrier negotiations, or seller onboarding to reduce end-to-end delivery time.</a:t>
            </a:r>
          </a:p>
          <a:p>
            <a:endParaRPr lang="en-IN" dirty="0"/>
          </a:p>
        </p:txBody>
      </p:sp>
    </p:spTree>
    <p:extLst>
      <p:ext uri="{BB962C8B-B14F-4D97-AF65-F5344CB8AC3E}">
        <p14:creationId xmlns:p14="http://schemas.microsoft.com/office/powerpoint/2010/main" val="31229570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9FEED5F-B2EA-EFCD-D346-910CF6B442BD}"/>
              </a:ext>
            </a:extLst>
          </p:cNvPr>
          <p:cNvPicPr>
            <a:picLocks noChangeAspect="1"/>
          </p:cNvPicPr>
          <p:nvPr/>
        </p:nvPicPr>
        <p:blipFill>
          <a:blip r:embed="rId2"/>
          <a:stretch>
            <a:fillRect/>
          </a:stretch>
        </p:blipFill>
        <p:spPr>
          <a:xfrm>
            <a:off x="138413" y="985320"/>
            <a:ext cx="11878574" cy="4895291"/>
          </a:xfrm>
          <a:prstGeom prst="rect">
            <a:avLst/>
          </a:prstGeom>
        </p:spPr>
      </p:pic>
    </p:spTree>
    <p:extLst>
      <p:ext uri="{BB962C8B-B14F-4D97-AF65-F5344CB8AC3E}">
        <p14:creationId xmlns:p14="http://schemas.microsoft.com/office/powerpoint/2010/main" val="36490205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93EBE-295D-E2B9-C35D-40A33EF15853}"/>
              </a:ext>
            </a:extLst>
          </p:cNvPr>
          <p:cNvSpPr>
            <a:spLocks noGrp="1"/>
          </p:cNvSpPr>
          <p:nvPr>
            <p:ph type="title"/>
          </p:nvPr>
        </p:nvSpPr>
        <p:spPr/>
        <p:txBody>
          <a:bodyPr/>
          <a:lstStyle/>
          <a:p>
            <a:r>
              <a:rPr lang="en-US" b="1" dirty="0"/>
              <a:t>Correlation Heatmap: Weight, Freight &amp; Delivery Time Factors</a:t>
            </a:r>
            <a:endParaRPr lang="en-IN" b="1" dirty="0"/>
          </a:p>
        </p:txBody>
      </p:sp>
      <p:sp>
        <p:nvSpPr>
          <p:cNvPr id="3" name="Content Placeholder 2">
            <a:extLst>
              <a:ext uri="{FF2B5EF4-FFF2-40B4-BE49-F238E27FC236}">
                <a16:creationId xmlns:a16="http://schemas.microsoft.com/office/drawing/2014/main" id="{D76333F2-E5F1-BD61-1B12-3A664B673B15}"/>
              </a:ext>
            </a:extLst>
          </p:cNvPr>
          <p:cNvSpPr>
            <a:spLocks noGrp="1"/>
          </p:cNvSpPr>
          <p:nvPr>
            <p:ph idx="1"/>
          </p:nvPr>
        </p:nvSpPr>
        <p:spPr/>
        <p:txBody>
          <a:bodyPr>
            <a:normAutofit fontScale="62500" lnSpcReduction="20000"/>
          </a:bodyPr>
          <a:lstStyle/>
          <a:p>
            <a:r>
              <a:rPr lang="en-US" dirty="0"/>
              <a:t>Heatmap displays pairwise correlations between key operational metrics: product weight, freight ratio/cost, and delivery time components.</a:t>
            </a:r>
          </a:p>
          <a:p>
            <a:r>
              <a:rPr lang="en-US" dirty="0"/>
              <a:t>Positive correlations indicate factors that </a:t>
            </a:r>
            <a:r>
              <a:rPr lang="en-US" b="1" dirty="0"/>
              <a:t>increase together</a:t>
            </a:r>
            <a:r>
              <a:rPr lang="en-US" dirty="0"/>
              <a:t>, such as heavier products often having higher freight cost.</a:t>
            </a:r>
          </a:p>
          <a:p>
            <a:r>
              <a:rPr lang="en-US" dirty="0"/>
              <a:t>Negative or near-zero correlations reveal metrics that operate independently.</a:t>
            </a:r>
          </a:p>
          <a:p>
            <a:r>
              <a:rPr lang="en-US" dirty="0"/>
              <a:t>Helps uncover hidden drivers influencing delivery delays or inflated shipping charges.</a:t>
            </a:r>
          </a:p>
          <a:p>
            <a:r>
              <a:rPr lang="en-US" dirty="0"/>
              <a:t>Guides feature selection for predictive modeling (delay prediction, logistics optimization, cost forecasting).</a:t>
            </a:r>
          </a:p>
          <a:p>
            <a:r>
              <a:rPr lang="en-US" b="1" dirty="0"/>
              <a:t>Key Insight / Action:</a:t>
            </a:r>
            <a:br>
              <a:rPr lang="en-US" dirty="0"/>
            </a:br>
            <a:r>
              <a:rPr lang="en-US" dirty="0"/>
              <a:t>Focus optimization efforts on variables that show strong correlation with freight cost and delivery time — these are the most influential levers for reducing delays and improving margin.</a:t>
            </a:r>
          </a:p>
          <a:p>
            <a:r>
              <a:rPr lang="en-US" b="1" dirty="0"/>
              <a:t>Caption (1 line):</a:t>
            </a:r>
            <a:br>
              <a:rPr lang="en-US" dirty="0"/>
            </a:br>
            <a:r>
              <a:rPr lang="en-US" dirty="0"/>
              <a:t>Correlation matrix highlights which factors meaningfully impact logistics cost and delivery performance.</a:t>
            </a:r>
          </a:p>
          <a:p>
            <a:r>
              <a:rPr lang="en-US" b="1" dirty="0"/>
              <a:t>Speaker Notes (short):</a:t>
            </a:r>
            <a:br>
              <a:rPr lang="en-US" dirty="0"/>
            </a:br>
            <a:r>
              <a:rPr lang="en-US" dirty="0"/>
              <a:t>This heatmap is crucial for diagnosing relationships inside the supply chain. If weight strongly correlates with freight cost but weakly with delivery time, we know delays come from other factors. Strong freight–delay correlations may signal poor carrier handling or inefficient routing.</a:t>
            </a:r>
          </a:p>
          <a:p>
            <a:endParaRPr lang="en-IN" dirty="0"/>
          </a:p>
        </p:txBody>
      </p:sp>
    </p:spTree>
    <p:extLst>
      <p:ext uri="{BB962C8B-B14F-4D97-AF65-F5344CB8AC3E}">
        <p14:creationId xmlns:p14="http://schemas.microsoft.com/office/powerpoint/2010/main" val="30776015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F2FEF7-5091-2B8A-74CE-54C2FF1F29CF}"/>
              </a:ext>
            </a:extLst>
          </p:cNvPr>
          <p:cNvPicPr>
            <a:picLocks noChangeAspect="1"/>
          </p:cNvPicPr>
          <p:nvPr/>
        </p:nvPicPr>
        <p:blipFill>
          <a:blip r:embed="rId2"/>
          <a:stretch>
            <a:fillRect/>
          </a:stretch>
        </p:blipFill>
        <p:spPr>
          <a:xfrm>
            <a:off x="1558070" y="285750"/>
            <a:ext cx="8829675" cy="6572250"/>
          </a:xfrm>
          <a:prstGeom prst="rect">
            <a:avLst/>
          </a:prstGeom>
        </p:spPr>
      </p:pic>
    </p:spTree>
    <p:extLst>
      <p:ext uri="{BB962C8B-B14F-4D97-AF65-F5344CB8AC3E}">
        <p14:creationId xmlns:p14="http://schemas.microsoft.com/office/powerpoint/2010/main" val="1908757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228</TotalTime>
  <Words>2959</Words>
  <Application>Microsoft Office PowerPoint</Application>
  <PresentationFormat>Widescreen</PresentationFormat>
  <Paragraphs>159</Paragraphs>
  <Slides>37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Calibri</vt:lpstr>
      <vt:lpstr>Calibri Light</vt:lpstr>
      <vt:lpstr>Office Theme</vt:lpstr>
      <vt:lpstr>CAPSTONE-PROJECT-1</vt:lpstr>
      <vt:lpstr>Top Categories in Very Slow Delivery Orders</vt:lpstr>
      <vt:lpstr>PowerPoint Presentation</vt:lpstr>
      <vt:lpstr>Top Categories in Not Approved Orders</vt:lpstr>
      <vt:lpstr>PowerPoint Presentation</vt:lpstr>
      <vt:lpstr>Top Categories Containing Outlier Orders</vt:lpstr>
      <vt:lpstr>PowerPoint Presentation</vt:lpstr>
      <vt:lpstr>  Very Slow Delivery by Installment  </vt:lpstr>
      <vt:lpstr>PowerPoint Presentation</vt:lpstr>
      <vt:lpstr>Compare: % Never Delivered vs % Very Slow by Installment</vt:lpstr>
      <vt:lpstr>PowerPoint Presentation</vt:lpstr>
      <vt:lpstr>Top Sellers by % Very Slow Delivery</vt:lpstr>
      <vt:lpstr>PowerPoint Presentation</vt:lpstr>
      <vt:lpstr>Median Freight Ratio by Product Category</vt:lpstr>
      <vt:lpstr>PowerPoint Presentation</vt:lpstr>
      <vt:lpstr>Max Freight Ratio by Product Category</vt:lpstr>
      <vt:lpstr>PowerPoint Presentation</vt:lpstr>
      <vt:lpstr>Freight Ratio vs Product Weight Bin</vt:lpstr>
      <vt:lpstr>PowerPoint Presentation</vt:lpstr>
      <vt:lpstr>Customer Installment Segmentation</vt:lpstr>
      <vt:lpstr>PowerPoint Presentation</vt:lpstr>
      <vt:lpstr>Customer Segmentation by Payment Behavior</vt:lpstr>
      <vt:lpstr>PowerPoint Presentation</vt:lpstr>
      <vt:lpstr>Customer Segmentation by Payment Value Quantiles</vt:lpstr>
      <vt:lpstr>PowerPoint Presentation</vt:lpstr>
      <vt:lpstr>Customer Repeat Behavior</vt:lpstr>
      <vt:lpstr>PowerPoint Presentation</vt:lpstr>
      <vt:lpstr>Monthly Revenue Heatmap</vt:lpstr>
      <vt:lpstr>PowerPoint Presentation</vt:lpstr>
      <vt:lpstr>Highest Price Sales by State</vt:lpstr>
      <vt:lpstr>PowerPoint Presentation</vt:lpstr>
      <vt:lpstr>Lowest Price Sales by State</vt:lpstr>
      <vt:lpstr>PowerPoint Presentation</vt:lpstr>
      <vt:lpstr>State-Wise Average Delivery Completion Time</vt:lpstr>
      <vt:lpstr>PowerPoint Presentation</vt:lpstr>
      <vt:lpstr>Correlation Heatmap: Weight, Freight &amp; Delivery Time Factors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avijit tiwari</dc:creator>
  <cp:lastModifiedBy>avijit tiwari</cp:lastModifiedBy>
  <cp:revision>1</cp:revision>
  <dcterms:created xsi:type="dcterms:W3CDTF">2025-12-06T12:01:21Z</dcterms:created>
  <dcterms:modified xsi:type="dcterms:W3CDTF">2025-12-06T15:50:18Z</dcterms:modified>
</cp:coreProperties>
</file>